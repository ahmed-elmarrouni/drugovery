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73" r:id="rId2"/>
    <p:sldId id="274" r:id="rId3"/>
    <p:sldId id="278" r:id="rId4"/>
    <p:sldId id="344" r:id="rId5"/>
    <p:sldId id="275" r:id="rId6"/>
    <p:sldId id="276" r:id="rId7"/>
    <p:sldId id="279" r:id="rId8"/>
    <p:sldId id="281" r:id="rId9"/>
    <p:sldId id="280" r:id="rId10"/>
    <p:sldId id="287" r:id="rId11"/>
    <p:sldId id="282" r:id="rId12"/>
    <p:sldId id="283" r:id="rId13"/>
    <p:sldId id="284" r:id="rId14"/>
    <p:sldId id="288" r:id="rId15"/>
    <p:sldId id="285" r:id="rId16"/>
    <p:sldId id="289" r:id="rId17"/>
    <p:sldId id="286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3" r:id="rId61"/>
    <p:sldId id="332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02FBB-7418-7DD9-990C-72B5AFC247CF}" v="3" dt="2025-03-06T12:37:48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04" autoAdjust="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F1CC8-47BD-4703-90D6-6851CF73B777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84674-1CEB-41A7-BA55-A6BD627DC76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98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aven.apache.org/guides/introduction/introduction-to-the-lifecycle.html#Lifecycle_Reference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6763B-8366-42EA-A9B8-A4E6DCB2F63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25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Bind</a:t>
            </a:r>
            <a:r>
              <a:rPr lang="fr-FR" dirty="0"/>
              <a:t> </a:t>
            </a:r>
            <a:r>
              <a:rPr lang="fr-FR" dirty="0" err="1"/>
              <a:t>mount</a:t>
            </a:r>
            <a:endParaRPr lang="fr-FR" dirty="0"/>
          </a:p>
          <a:p>
            <a:endParaRPr lang="fr-FR" dirty="0"/>
          </a:p>
          <a:p>
            <a:r>
              <a:rPr lang="fr-FR" dirty="0"/>
              <a:t>Jenkins + Docker : https://www.jenkins.io/solutions/docker/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23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 cette technique ne fonctionne pas, la dernière possibilité à utiliser est la commande : </a:t>
            </a:r>
          </a:p>
          <a:p>
            <a:r>
              <a:rPr lang="sv-SE" b="1" dirty="0"/>
              <a:t>chmod 777 /var/run/docker.sock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614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- </a:t>
            </a:r>
            <a:r>
              <a:rPr lang="fr-FR" b="1" dirty="0" err="1"/>
              <a:t>mvnHome</a:t>
            </a:r>
            <a:r>
              <a:rPr lang="fr-FR" dirty="0"/>
              <a:t> est une variable qui contient le script généré par le </a:t>
            </a:r>
            <a:r>
              <a:rPr lang="fr-FR" dirty="0" err="1"/>
              <a:t>Snippet</a:t>
            </a:r>
            <a:r>
              <a:rPr lang="fr-FR" dirty="0"/>
              <a:t> </a:t>
            </a:r>
            <a:r>
              <a:rPr lang="fr-FR" dirty="0" err="1"/>
              <a:t>Generator</a:t>
            </a:r>
            <a:r>
              <a:rPr lang="fr-FR" dirty="0"/>
              <a:t>. (l’emplacement où l’outil </a:t>
            </a:r>
            <a:r>
              <a:rPr lang="fr-FR" dirty="0" err="1"/>
              <a:t>maven</a:t>
            </a:r>
            <a:r>
              <a:rPr lang="fr-FR" dirty="0"/>
              <a:t> est installé)</a:t>
            </a:r>
          </a:p>
          <a:p>
            <a:r>
              <a:rPr lang="fr-FR" dirty="0"/>
              <a:t>- Afin d’effectuer des commandes </a:t>
            </a:r>
            <a:r>
              <a:rPr lang="fr-FR" dirty="0" err="1"/>
              <a:t>maven</a:t>
            </a:r>
            <a:r>
              <a:rPr lang="fr-FR" dirty="0"/>
              <a:t>, la commande </a:t>
            </a:r>
            <a:r>
              <a:rPr lang="fr-FR" dirty="0" err="1"/>
              <a:t>mvn</a:t>
            </a:r>
            <a:r>
              <a:rPr lang="fr-FR" dirty="0"/>
              <a:t> est accessible avec le chemin </a:t>
            </a:r>
            <a:r>
              <a:rPr lang="fr-FR" dirty="0" err="1"/>
              <a:t>mvnHome</a:t>
            </a:r>
            <a:r>
              <a:rPr lang="fr-FR" dirty="0"/>
              <a:t>/bin/</a:t>
            </a:r>
            <a:r>
              <a:rPr lang="fr-FR" dirty="0" err="1"/>
              <a:t>mvn</a:t>
            </a:r>
            <a:r>
              <a:rPr lang="fr-FR" dirty="0"/>
              <a:t> référé à la variable </a:t>
            </a:r>
            <a:r>
              <a:rPr lang="fr-FR" dirty="0" err="1"/>
              <a:t>mvnCMD</a:t>
            </a:r>
            <a:endParaRPr lang="fr-FR" dirty="0"/>
          </a:p>
          <a:p>
            <a:r>
              <a:rPr lang="fr-FR" dirty="0"/>
              <a:t>- A la fin, on effectue notre commande </a:t>
            </a:r>
            <a:r>
              <a:rPr lang="fr-FR" b="1" dirty="0" err="1"/>
              <a:t>mvn</a:t>
            </a:r>
            <a:r>
              <a:rPr lang="fr-FR" b="1" dirty="0"/>
              <a:t> clean package</a:t>
            </a:r>
          </a:p>
          <a:p>
            <a:endParaRPr lang="fr-FR" b="1" dirty="0"/>
          </a:p>
          <a:p>
            <a:r>
              <a:rPr lang="en-US" dirty="0"/>
              <a:t>These are the default life cycle phases in maven 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validate</a:t>
            </a:r>
            <a:r>
              <a:rPr lang="en-US" dirty="0"/>
              <a:t> - validate the project is correct and all necessary information is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compile</a:t>
            </a:r>
            <a:r>
              <a:rPr lang="en-US" dirty="0"/>
              <a:t> - compile the source code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</a:t>
            </a:r>
            <a:r>
              <a:rPr lang="en-US" dirty="0"/>
              <a:t> - test the compiled source code using a suitable unit testing framework. These tests should not require the code be packaged or deployed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package</a:t>
            </a:r>
            <a:r>
              <a:rPr lang="en-US" dirty="0"/>
              <a:t> - take the compiled code and package it in its distributable format, such as a JAR.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verify</a:t>
            </a:r>
            <a:r>
              <a:rPr lang="en-US" dirty="0"/>
              <a:t> - run any checks on results of integration tests to ensure quality criteria are met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install</a:t>
            </a:r>
            <a:r>
              <a:rPr lang="en-US" dirty="0"/>
              <a:t> - install the package into the local repository, for use as a dependency in other projects locally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deploy</a:t>
            </a:r>
            <a:r>
              <a:rPr lang="en-US" dirty="0"/>
              <a:t> - done in the build environment, copies the final package to the remote repository for sharing with other developers and projects.</a:t>
            </a:r>
          </a:p>
          <a:p>
            <a:endParaRPr lang="fr-FR" b="0" dirty="0"/>
          </a:p>
          <a:p>
            <a:r>
              <a:rPr lang="en-US" dirty="0"/>
              <a:t>How Maven works is, if you run a command for any of the lifecycle phases, it executes each default life cycle phase in order, before executing the command itself.</a:t>
            </a:r>
          </a:p>
          <a:p>
            <a:endParaRPr lang="en-US" dirty="0"/>
          </a:p>
          <a:p>
            <a:r>
              <a:rPr lang="en-US" dirty="0"/>
              <a:t>order of execution</a:t>
            </a:r>
          </a:p>
          <a:p>
            <a:r>
              <a:rPr lang="en-US" dirty="0"/>
              <a:t>validate &gt;&gt; compile &gt;&gt; test (optional) &gt;&gt; package &gt;&gt; verify &gt;&gt; install &gt;&gt; deploy</a:t>
            </a:r>
          </a:p>
          <a:p>
            <a:endParaRPr lang="en-US" dirty="0"/>
          </a:p>
          <a:p>
            <a:r>
              <a:rPr lang="en-US" dirty="0"/>
              <a:t>So when you run the command </a:t>
            </a:r>
            <a:r>
              <a:rPr lang="en-US" b="1" i="1" dirty="0" err="1"/>
              <a:t>mvn</a:t>
            </a:r>
            <a:r>
              <a:rPr lang="en-US" b="1" i="1" dirty="0"/>
              <a:t> package</a:t>
            </a:r>
            <a:r>
              <a:rPr lang="en-US" dirty="0"/>
              <a:t>, it runs the commands for all lifecycle phases till package</a:t>
            </a:r>
          </a:p>
          <a:p>
            <a:r>
              <a:rPr lang="en-US" dirty="0"/>
              <a:t>validate &gt;&gt; compile &gt;&gt; test (optional) &gt;&gt; package</a:t>
            </a:r>
          </a:p>
          <a:p>
            <a:endParaRPr lang="en-US" dirty="0"/>
          </a:p>
          <a:p>
            <a:r>
              <a:rPr lang="en-US" dirty="0"/>
              <a:t>And as for </a:t>
            </a:r>
            <a:r>
              <a:rPr lang="en-US" b="1" i="1" dirty="0" err="1"/>
              <a:t>mvn</a:t>
            </a:r>
            <a:r>
              <a:rPr lang="en-US" b="1" i="1" dirty="0"/>
              <a:t> install</a:t>
            </a:r>
            <a:r>
              <a:rPr lang="en-US" dirty="0"/>
              <a:t>, it runs the commands for all lifecycle phases till install, which includes package as well</a:t>
            </a:r>
          </a:p>
          <a:p>
            <a:r>
              <a:rPr lang="en-US" dirty="0"/>
              <a:t>validate &gt;&gt; compile &gt;&gt; test (optional) &gt;&gt; package &gt;&gt; verify &gt;&gt; install</a:t>
            </a:r>
          </a:p>
          <a:p>
            <a:endParaRPr lang="en-US" dirty="0"/>
          </a:p>
          <a:p>
            <a:r>
              <a:rPr lang="en-US" dirty="0"/>
              <a:t>So, effectively what it means is, </a:t>
            </a:r>
            <a:r>
              <a:rPr lang="en-US" b="1" dirty="0"/>
              <a:t>install</a:t>
            </a:r>
            <a:r>
              <a:rPr lang="en-US" dirty="0"/>
              <a:t> commands does everything that </a:t>
            </a:r>
            <a:r>
              <a:rPr lang="en-US" b="1" dirty="0"/>
              <a:t>package</a:t>
            </a:r>
            <a:r>
              <a:rPr lang="en-US" dirty="0"/>
              <a:t> command does and some more (install the package into the local repository, for use as a dependency in other projects locally)</a:t>
            </a:r>
          </a:p>
          <a:p>
            <a:endParaRPr lang="en-US" dirty="0"/>
          </a:p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Maven lifecycle reference</a:t>
            </a:r>
            <a:endParaRPr lang="en-US" dirty="0"/>
          </a:p>
          <a:p>
            <a:endParaRPr lang="en-US" dirty="0"/>
          </a:p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473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327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22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/>
              <a:t>Attention au numéro de port 8080 du hôte (nous l’avons changé avec 8081) d’où l’exécution de la commande au niveau de Dockerfile.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234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Attention, cette adresse est dynamique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84674-1CEB-41A7-BA55-A6BD627DC761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72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5FE21-61CE-4AFA-8D52-EFA59220B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D8474D-5726-4591-BC59-C8364A264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14484F-F385-43C3-9AD5-02E78DBF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2A0B40-5BFD-4660-AB5D-066134CF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512D01-F17E-4F34-BE97-23860E15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93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6EF00-F6DF-4F09-9FDF-F4F26816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28AA3-7B52-4CCA-9267-7399D22DA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DE738D-336E-487D-8F4E-10E967C0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055780-AEED-4E9C-9A06-9EAD934B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7E8DA3-1025-4CA0-B8AC-58C413DD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10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6215C-1098-4370-B867-79CDB651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70F42A-D70E-4AF0-A087-AEA1AFCB0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0FB33-5215-4EAD-98CB-F29EAFD9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8F664A-DECD-46AC-9EF0-E1B0AA15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D42EF-F1CF-4BCC-BCEB-5B50664B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95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DB18F-DD66-4F12-8A53-C94A4F30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9E3B9-D2BF-4291-8987-EFCFE6ECD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BE7FFD-B61C-4838-BAD0-E0FD18BB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2E1C84-A005-42C5-BF6D-EE783E28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9C48E-DA01-4992-AD70-CB0FD319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FDCB29-D030-43E3-8E0B-F29932DA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93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C042BC-FA38-461E-9E32-436F594D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50541B-8B30-44E9-8A85-433FE37BA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64698A-13A5-47D0-8B27-DF35A029E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23A00E-7515-45DD-8056-D6694AF75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B962A4-39E6-42FA-913E-D70BBBD61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081779D-F736-47DE-A759-CCAD02A1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F9FF02-020B-4519-9BFB-2C2048A2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AF6CA9-99A7-467B-B654-02A2C062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90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84BE6-7942-4787-873D-4B06B050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D41059-4639-4CFC-B270-4BB403BC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C78E11-DBD6-4700-80DB-CD40C240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760375-1E6F-4137-AEBE-717E9DA8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7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2ABEE5-B13B-4E2A-975E-ECFAF8A7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84CE34-B149-4482-AD4A-E23A890A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D0C38C-9251-4FDF-8E99-75771704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30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057AE-6D02-4D03-A6B9-51D73B8E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A60DDD-0D30-4800-9B32-6A8DD4798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3CEFA9-5EA3-4473-8A22-148FB8043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2BCDAB-3400-41DA-BCB9-16F20454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C97D80-7BEF-401C-9529-28B2D89F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0AA858-17DB-491C-AADD-52150028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34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A68B31-9E20-4BB3-81A2-46EC9009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7E8752D-77F6-44DC-B772-3F1DAA5F2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5FD52E-E147-4754-ABB4-7FC735D7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F73698-1513-4682-AE0B-E50A88A5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AFC471-F4FE-41C3-89FE-ACADC489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CE6701-D5C4-46BE-8CD3-D1F62CD9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87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AA73D-6460-4241-A92A-FE83FABF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FA874B-08B8-4990-B086-2E2086392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23EE52-470F-4629-AF14-7B7FF1FD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339987-68C6-497C-A5CF-E837DAE7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0DDC94-1823-473C-AED3-845CBE14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05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F131BB-73F3-40FC-92D7-B9F671608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7EEFB2-BF5A-4496-86D3-A3366CE46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57B134-06AD-406F-AD09-1A36BBB0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2208E6-4791-4A5D-AD17-2FD1B639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26041-46D1-4431-8E8F-B35C349E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58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02E43C-D8EA-4ED4-B856-BD644354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AECE26-DFAF-4FB2-9F7C-69B8B8D1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4645EA-5354-4CEB-AC8D-EB9C581CC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63F6F-EE18-4975-9032-781C58CD6239}" type="datetimeFigureOut">
              <a:rPr lang="fr-FR" smtClean="0"/>
              <a:t>06/03/2025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25F05A-6532-4915-BEEC-444A0A9EB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727650-D5FF-4596-B1B9-E3B616575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DDEF2-255E-4821-B8C6-0C4FC0242B8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91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5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5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sv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jenkins/jenki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dall49/my-app.gi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hyperlink" Target="ngrok.com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912" y="1714488"/>
            <a:ext cx="12216929" cy="1440160"/>
          </a:xfrm>
          <a:prstGeom prst="rect">
            <a:avLst/>
          </a:prstGeom>
          <a:solidFill>
            <a:srgbClr val="0070C0">
              <a:alpha val="8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4936913" y="2032451"/>
            <a:ext cx="2036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CA" sz="2800" kern="0" dirty="0">
                <a:solidFill>
                  <a:schemeClr val="bg1"/>
                </a:solidFill>
                <a:latin typeface="Century Gothic" pitchFamily="34" charset="0"/>
              </a:rPr>
              <a:t>Bachelor 3</a:t>
            </a:r>
            <a:endParaRPr lang="en-CA" sz="2800" b="1" kern="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9674" y="3443294"/>
            <a:ext cx="11232301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r>
              <a:rPr lang="fr-FR" sz="4400" dirty="0">
                <a:latin typeface="Century Gothic" pitchFamily="34" charset="0"/>
              </a:rPr>
              <a:t>Atelier pratique</a:t>
            </a:r>
          </a:p>
          <a:p>
            <a:pPr algn="ctr"/>
            <a:r>
              <a:rPr lang="fr-FR" sz="4400" b="1" dirty="0">
                <a:latin typeface="Century Gothic" pitchFamily="34" charset="0"/>
              </a:rPr>
              <a:t>Mise en place d’un CI / CD pipeline</a:t>
            </a: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latin typeface="Century Gothic" pitchFamily="34" charset="0"/>
            </a:endParaRPr>
          </a:p>
          <a:p>
            <a:pPr algn="ctr"/>
            <a:endParaRPr lang="fr-FR" sz="1600" dirty="0">
              <a:solidFill>
                <a:srgbClr val="000000"/>
              </a:solidFill>
              <a:latin typeface="Century Gothic" pitchFamily="34" charset="0"/>
            </a:endParaRPr>
          </a:p>
        </p:txBody>
      </p:sp>
      <p:pic>
        <p:nvPicPr>
          <p:cNvPr id="6" name="Picture 2" descr="SUPINFO Maroc devient Maroc Ynov Campus">
            <a:extLst>
              <a:ext uri="{FF2B5EF4-FFF2-40B4-BE49-F238E27FC236}">
                <a16:creationId xmlns:a16="http://schemas.microsoft.com/office/drawing/2014/main" id="{1F7CC9C3-0597-4512-A92B-D9A279CCF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325" y="0"/>
            <a:ext cx="2292207" cy="114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7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652427" y="2505535"/>
            <a:ext cx="88871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0" b="1" dirty="0">
                <a:latin typeface="Century Gothic" panose="020B0502020202020204" pitchFamily="34" charset="0"/>
              </a:rPr>
              <a:t>Introduction</a:t>
            </a:r>
            <a:endParaRPr lang="fr-FR" sz="8000" b="1" dirty="0"/>
          </a:p>
        </p:txBody>
      </p:sp>
      <p:pic>
        <p:nvPicPr>
          <p:cNvPr id="6" name="Graphique 5" descr="Plan contour">
            <a:extLst>
              <a:ext uri="{FF2B5EF4-FFF2-40B4-BE49-F238E27FC236}">
                <a16:creationId xmlns:a16="http://schemas.microsoft.com/office/drawing/2014/main" id="{2ADEDB18-18F7-4144-B207-A1879C565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000" y="4119923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4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0D60953-DEC2-4AE3-9E95-5A4311454792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Le pipeline à mettre en place</a:t>
            </a:r>
          </a:p>
        </p:txBody>
      </p:sp>
      <p:pic>
        <p:nvPicPr>
          <p:cNvPr id="5" name="Picture 8" descr="Résultat de recherche d'images pour &quot;git logo&quot;">
            <a:extLst>
              <a:ext uri="{FF2B5EF4-FFF2-40B4-BE49-F238E27FC236}">
                <a16:creationId xmlns:a16="http://schemas.microsoft.com/office/drawing/2014/main" id="{8E9B8DD5-2927-48FA-8406-D167CB2C5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577" y="3629699"/>
            <a:ext cx="794347" cy="3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BD0078F-139D-42AC-B6E4-479408D0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286" y="1815660"/>
            <a:ext cx="1749082" cy="398196"/>
          </a:xfrm>
          <a:prstGeom prst="rect">
            <a:avLst/>
          </a:prstGeom>
        </p:spPr>
      </p:pic>
      <p:pic>
        <p:nvPicPr>
          <p:cNvPr id="10" name="Picture 2" descr="Résultat de recherche d'images pour &quot;jenkins logo&quot;">
            <a:extLst>
              <a:ext uri="{FF2B5EF4-FFF2-40B4-BE49-F238E27FC236}">
                <a16:creationId xmlns:a16="http://schemas.microsoft.com/office/drawing/2014/main" id="{F78BE110-2EDB-468A-AB9A-89921A2CD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711" y="2213856"/>
            <a:ext cx="2974372" cy="148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que 2" descr="Utilisateur avec un remplissage uni">
            <a:extLst>
              <a:ext uri="{FF2B5EF4-FFF2-40B4-BE49-F238E27FC236}">
                <a16:creationId xmlns:a16="http://schemas.microsoft.com/office/drawing/2014/main" id="{F04B4FAD-39A5-4353-8897-BE41786D78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409" y="5074308"/>
            <a:ext cx="1440000" cy="1440000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B129381-3F68-49EC-AF9E-8B2B0DA1DC00}"/>
              </a:ext>
            </a:extLst>
          </p:cNvPr>
          <p:cNvCxnSpPr>
            <a:cxnSpLocks/>
          </p:cNvCxnSpPr>
          <p:nvPr/>
        </p:nvCxnSpPr>
        <p:spPr>
          <a:xfrm flipV="1">
            <a:off x="1471936" y="4148776"/>
            <a:ext cx="0" cy="9255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B850C9D-DA8F-4988-BD78-CB6D47A32A5C}"/>
              </a:ext>
            </a:extLst>
          </p:cNvPr>
          <p:cNvCxnSpPr>
            <a:cxnSpLocks/>
          </p:cNvCxnSpPr>
          <p:nvPr/>
        </p:nvCxnSpPr>
        <p:spPr>
          <a:xfrm>
            <a:off x="2445250" y="2815123"/>
            <a:ext cx="12637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5738C305-DBE6-4310-9E0A-DBF49BB55C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7" y="2059199"/>
            <a:ext cx="1440001" cy="1301251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A8EDC639-637D-44A5-96D9-8C7F8CD5CD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663" y="3360450"/>
            <a:ext cx="870874" cy="489867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411439A8-2C6A-4D55-B317-6CE188C69407}"/>
              </a:ext>
            </a:extLst>
          </p:cNvPr>
          <p:cNvSpPr txBox="1"/>
          <p:nvPr/>
        </p:nvSpPr>
        <p:spPr>
          <a:xfrm>
            <a:off x="8069155" y="2596235"/>
            <a:ext cx="2249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Build a Docker image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5916A760-EC14-4E93-B95A-B5665385AC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052" y="358335"/>
            <a:ext cx="1828800" cy="1457325"/>
          </a:xfrm>
          <a:prstGeom prst="rect">
            <a:avLst/>
          </a:prstGeom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7E747A0-EB30-4D76-BD4B-A825BEAA90B9}"/>
              </a:ext>
            </a:extLst>
          </p:cNvPr>
          <p:cNvCxnSpPr>
            <a:cxnSpLocks/>
          </p:cNvCxnSpPr>
          <p:nvPr/>
        </p:nvCxnSpPr>
        <p:spPr>
          <a:xfrm>
            <a:off x="6927151" y="2856219"/>
            <a:ext cx="12637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98A3A692-EAC1-4629-86DA-4F44F5E3C49F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9855523" y="1815660"/>
            <a:ext cx="791929" cy="999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9E6711EE-0EDC-4F3F-BCCE-67F3CFB1B31F}"/>
              </a:ext>
            </a:extLst>
          </p:cNvPr>
          <p:cNvCxnSpPr>
            <a:cxnSpLocks/>
          </p:cNvCxnSpPr>
          <p:nvPr/>
        </p:nvCxnSpPr>
        <p:spPr>
          <a:xfrm>
            <a:off x="6882554" y="3272985"/>
            <a:ext cx="3436125" cy="24163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54DCE6D-2A19-48DD-A7FB-D90EFA0AC36F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10879396" y="1886202"/>
            <a:ext cx="62584" cy="387367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Image 43">
            <a:extLst>
              <a:ext uri="{FF2B5EF4-FFF2-40B4-BE49-F238E27FC236}">
                <a16:creationId xmlns:a16="http://schemas.microsoft.com/office/drawing/2014/main" id="{1C7310E2-044D-4ACF-B7DE-7278497C75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794" y="5775295"/>
            <a:ext cx="1481868" cy="833551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D352324B-9EA3-4F8E-902C-4C68167009CD}"/>
              </a:ext>
            </a:extLst>
          </p:cNvPr>
          <p:cNvSpPr txBox="1"/>
          <p:nvPr/>
        </p:nvSpPr>
        <p:spPr>
          <a:xfrm>
            <a:off x="9754634" y="5759879"/>
            <a:ext cx="2249524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Dev Environment</a:t>
            </a:r>
          </a:p>
        </p:txBody>
      </p:sp>
      <p:pic>
        <p:nvPicPr>
          <p:cNvPr id="46" name="Graphique 45" descr="Utilisateur avec un remplissage uni">
            <a:extLst>
              <a:ext uri="{FF2B5EF4-FFF2-40B4-BE49-F238E27FC236}">
                <a16:creationId xmlns:a16="http://schemas.microsoft.com/office/drawing/2014/main" id="{4214A12D-D508-4F06-829B-DFBECAF346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6869" y="5074308"/>
            <a:ext cx="1440000" cy="1440000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92700342-410C-423D-B9E2-474A687C220C}"/>
              </a:ext>
            </a:extLst>
          </p:cNvPr>
          <p:cNvSpPr txBox="1"/>
          <p:nvPr/>
        </p:nvSpPr>
        <p:spPr>
          <a:xfrm>
            <a:off x="326626" y="6333528"/>
            <a:ext cx="2249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IT Engineers</a:t>
            </a: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7D4854AD-E06C-44DE-BA49-417D90061F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646" y="4265651"/>
            <a:ext cx="370759" cy="690230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1B07C05F-438F-4CB0-AFF6-9CA283671A8B}"/>
              </a:ext>
            </a:extLst>
          </p:cNvPr>
          <p:cNvSpPr txBox="1"/>
          <p:nvPr/>
        </p:nvSpPr>
        <p:spPr>
          <a:xfrm>
            <a:off x="2258827" y="4456326"/>
            <a:ext cx="850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71DE42B-D468-4974-A636-277DA87FF1BA}"/>
              </a:ext>
            </a:extLst>
          </p:cNvPr>
          <p:cNvSpPr txBox="1"/>
          <p:nvPr/>
        </p:nvSpPr>
        <p:spPr>
          <a:xfrm>
            <a:off x="7599022" y="4494216"/>
            <a:ext cx="1064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Deploy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D0488FC-B8ED-4313-8816-783EF942FB8A}"/>
              </a:ext>
            </a:extLst>
          </p:cNvPr>
          <p:cNvSpPr txBox="1"/>
          <p:nvPr/>
        </p:nvSpPr>
        <p:spPr>
          <a:xfrm>
            <a:off x="9459807" y="2003358"/>
            <a:ext cx="80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D21441E-23B0-45D8-BE36-7648D5850593}"/>
              </a:ext>
            </a:extLst>
          </p:cNvPr>
          <p:cNvSpPr txBox="1"/>
          <p:nvPr/>
        </p:nvSpPr>
        <p:spPr>
          <a:xfrm>
            <a:off x="10972610" y="3865541"/>
            <a:ext cx="709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40A4F16F-2EBE-4382-853E-EDCF34BEC688}"/>
              </a:ext>
            </a:extLst>
          </p:cNvPr>
          <p:cNvSpPr txBox="1"/>
          <p:nvPr/>
        </p:nvSpPr>
        <p:spPr>
          <a:xfrm>
            <a:off x="4957598" y="3595650"/>
            <a:ext cx="1064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1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0D60953-DEC2-4AE3-9E95-5A4311454792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CI tool </a:t>
            </a:r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: Jenkins</a:t>
            </a:r>
          </a:p>
        </p:txBody>
      </p:sp>
      <p:pic>
        <p:nvPicPr>
          <p:cNvPr id="10" name="Picture 2" descr="Résultat de recherche d'images pour &quot;jenkins logo&quot;">
            <a:extLst>
              <a:ext uri="{FF2B5EF4-FFF2-40B4-BE49-F238E27FC236}">
                <a16:creationId xmlns:a16="http://schemas.microsoft.com/office/drawing/2014/main" id="{F78BE110-2EDB-468A-AB9A-89921A2CD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97" y="613656"/>
            <a:ext cx="2974372" cy="148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ZoneTexte 55">
            <a:extLst>
              <a:ext uri="{FF2B5EF4-FFF2-40B4-BE49-F238E27FC236}">
                <a16:creationId xmlns:a16="http://schemas.microsoft.com/office/drawing/2014/main" id="{40A4F16F-2EBE-4382-853E-EDCF34BEC688}"/>
              </a:ext>
            </a:extLst>
          </p:cNvPr>
          <p:cNvSpPr txBox="1"/>
          <p:nvPr/>
        </p:nvSpPr>
        <p:spPr>
          <a:xfrm>
            <a:off x="995198" y="1930138"/>
            <a:ext cx="8834602" cy="445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Ordonnanceur (</a:t>
            </a:r>
            <a:r>
              <a:rPr lang="en-CA" sz="2400" dirty="0">
                <a:latin typeface="Century Gothic" panose="020B0502020202020204" pitchFamily="34" charset="0"/>
                <a:cs typeface="Arial" panose="020B0604020202020204" pitchFamily="34" charset="0"/>
              </a:rPr>
              <a:t>Scheduler</a:t>
            </a: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Run de Jobs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Pipeline d’Intégration Continue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Java / Open source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Utilisé en DevOps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1000 plugins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GUI : port 8080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  <a:cs typeface="Arial" panose="020B0604020202020204" pitchFamily="34" charset="0"/>
              </a:rPr>
              <a:t>CLI possible</a:t>
            </a:r>
          </a:p>
        </p:txBody>
      </p:sp>
    </p:spTree>
    <p:extLst>
      <p:ext uri="{BB962C8B-B14F-4D97-AF65-F5344CB8AC3E}">
        <p14:creationId xmlns:p14="http://schemas.microsoft.com/office/powerpoint/2010/main" val="1152675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652427" y="2644170"/>
            <a:ext cx="88871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Installation et préparation de l’environnement de travail</a:t>
            </a:r>
            <a:endParaRPr lang="fr-FR" sz="4800" b="1" dirty="0"/>
          </a:p>
        </p:txBody>
      </p:sp>
      <p:pic>
        <p:nvPicPr>
          <p:cNvPr id="12" name="Graphique 11" descr="Cône de signalisation contour">
            <a:extLst>
              <a:ext uri="{FF2B5EF4-FFF2-40B4-BE49-F238E27FC236}">
                <a16:creationId xmlns:a16="http://schemas.microsoft.com/office/drawing/2014/main" id="{99705BD9-ECD1-4178-9521-C5E76E3A5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5732" y="4487910"/>
            <a:ext cx="1800000" cy="1800000"/>
          </a:xfrm>
          <a:prstGeom prst="rect">
            <a:avLst/>
          </a:prstGeom>
        </p:spPr>
      </p:pic>
      <p:pic>
        <p:nvPicPr>
          <p:cNvPr id="14" name="Graphique 13" descr="Clé contour">
            <a:extLst>
              <a:ext uri="{FF2B5EF4-FFF2-40B4-BE49-F238E27FC236}">
                <a16:creationId xmlns:a16="http://schemas.microsoft.com/office/drawing/2014/main" id="{3A92B6FE-67A4-49BB-9814-C08C39AFF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5217" y="4663519"/>
            <a:ext cx="1448782" cy="14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3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9BFC38C-3B2B-42BB-99B4-D3A5FA372FC8}"/>
              </a:ext>
            </a:extLst>
          </p:cNvPr>
          <p:cNvSpPr txBox="1"/>
          <p:nvPr/>
        </p:nvSpPr>
        <p:spPr>
          <a:xfrm>
            <a:off x="668536" y="1170115"/>
            <a:ext cx="108549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Afin de réaliser ce mini-projet, il faudra installer :</a:t>
            </a:r>
          </a:p>
          <a:p>
            <a:pPr algn="just"/>
            <a:endParaRPr lang="fr-FR" sz="2400" dirty="0">
              <a:latin typeface="Century Gothic" panose="020B0502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fr-FR" sz="2400" b="1" dirty="0">
                <a:latin typeface="Century Gothic" panose="020B0502020202020204" pitchFamily="34" charset="0"/>
              </a:rPr>
              <a:t>Git</a:t>
            </a:r>
            <a:r>
              <a:rPr lang="fr-FR" sz="2400" dirty="0">
                <a:latin typeface="Century Gothic" panose="020B0502020202020204" pitchFamily="34" charset="0"/>
              </a:rPr>
              <a:t> (+ posséder un compte </a:t>
            </a:r>
            <a:r>
              <a:rPr lang="fr-FR" sz="2400" b="1" dirty="0">
                <a:latin typeface="Century Gothic" panose="020B0502020202020204" pitchFamily="34" charset="0"/>
              </a:rPr>
              <a:t>GitHub</a:t>
            </a:r>
            <a:r>
              <a:rPr lang="fr-FR" sz="2400" dirty="0">
                <a:latin typeface="Century Gothic" panose="020B0502020202020204" pitchFamily="34" charset="0"/>
              </a:rPr>
              <a:t>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sz="2400" b="1" dirty="0">
                <a:latin typeface="Century Gothic" panose="020B0502020202020204" pitchFamily="34" charset="0"/>
              </a:rPr>
              <a:t>Docker</a:t>
            </a:r>
            <a:r>
              <a:rPr lang="fr-FR" sz="2400" dirty="0">
                <a:latin typeface="Century Gothic" panose="020B0502020202020204" pitchFamily="34" charset="0"/>
              </a:rPr>
              <a:t> (+ posséder un compte </a:t>
            </a:r>
            <a:r>
              <a:rPr lang="fr-FR" sz="2400" b="1" dirty="0">
                <a:latin typeface="Century Gothic" panose="020B0502020202020204" pitchFamily="34" charset="0"/>
              </a:rPr>
              <a:t>Docker Hub</a:t>
            </a:r>
            <a:r>
              <a:rPr lang="fr-FR" sz="2400" dirty="0">
                <a:latin typeface="Century Gothic" panose="020B0502020202020204" pitchFamily="34" charset="0"/>
              </a:rPr>
              <a:t>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sz="2400" b="1" dirty="0">
                <a:latin typeface="Century Gothic" panose="020B0502020202020204" pitchFamily="34" charset="0"/>
              </a:rPr>
              <a:t>Jenkins</a:t>
            </a:r>
          </a:p>
          <a:p>
            <a:pPr algn="just"/>
            <a:endParaRPr lang="fr-FR" sz="2400" dirty="0">
              <a:latin typeface="Century Gothic" panose="020B0502020202020204" pitchFamily="34" charset="0"/>
            </a:endParaRPr>
          </a:p>
          <a:p>
            <a:pPr algn="just"/>
            <a:endParaRPr lang="fr-FR" sz="2400" dirty="0">
              <a:latin typeface="Century Gothic" panose="020B0502020202020204" pitchFamily="34" charset="0"/>
            </a:endParaRPr>
          </a:p>
          <a:p>
            <a:pPr algn="just"/>
            <a:r>
              <a:rPr lang="fr-FR" sz="2400" dirty="0">
                <a:latin typeface="Century Gothic" panose="020B0502020202020204" pitchFamily="34" charset="0"/>
              </a:rPr>
              <a:t>En ce qui concerne </a:t>
            </a:r>
            <a:r>
              <a:rPr lang="fr-FR" sz="2400" b="1" dirty="0">
                <a:latin typeface="Century Gothic" panose="020B0502020202020204" pitchFamily="34" charset="0"/>
              </a:rPr>
              <a:t>Jenkins</a:t>
            </a:r>
            <a:r>
              <a:rPr lang="fr-FR" sz="2400" dirty="0">
                <a:latin typeface="Century Gothic" panose="020B0502020202020204" pitchFamily="34" charset="0"/>
              </a:rPr>
              <a:t>, nous avons 3 options :</a:t>
            </a:r>
          </a:p>
          <a:p>
            <a:pPr marL="342900" indent="-342900" algn="just">
              <a:buFontTx/>
              <a:buChar char="-"/>
            </a:pPr>
            <a:endParaRPr lang="fr-FR" sz="2400" dirty="0">
              <a:latin typeface="Century Gothic" panose="020B0502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fr-FR" sz="2400" dirty="0">
                <a:latin typeface="Century Gothic" panose="020B0502020202020204" pitchFamily="34" charset="0"/>
              </a:rPr>
              <a:t>Installer Jenkins sur une </a:t>
            </a:r>
            <a:r>
              <a:rPr lang="fr-FR" sz="2400" b="1" dirty="0">
                <a:latin typeface="Century Gothic" panose="020B0502020202020204" pitchFamily="34" charset="0"/>
              </a:rPr>
              <a:t>machine physique </a:t>
            </a:r>
            <a:r>
              <a:rPr lang="fr-FR" sz="2400" dirty="0">
                <a:latin typeface="Century Gothic" panose="020B0502020202020204" pitchFamily="34" charset="0"/>
              </a:rPr>
              <a:t>(Linux, Mac ou Windows)</a:t>
            </a:r>
          </a:p>
          <a:p>
            <a:pPr marL="342900" indent="-342900" algn="just">
              <a:buFontTx/>
              <a:buChar char="-"/>
            </a:pPr>
            <a:r>
              <a:rPr lang="fr-FR" sz="2400" dirty="0">
                <a:latin typeface="Century Gothic" panose="020B0502020202020204" pitchFamily="34" charset="0"/>
              </a:rPr>
              <a:t>Installer Jenkins sur une </a:t>
            </a:r>
            <a:r>
              <a:rPr lang="fr-FR" sz="2400" b="1" dirty="0">
                <a:latin typeface="Century Gothic" panose="020B0502020202020204" pitchFamily="34" charset="0"/>
              </a:rPr>
              <a:t>VM</a:t>
            </a:r>
          </a:p>
          <a:p>
            <a:pPr marL="342900" indent="-342900" algn="just">
              <a:buFontTx/>
              <a:buChar char="-"/>
            </a:pPr>
            <a:r>
              <a:rPr lang="fr-FR" sz="2400" dirty="0">
                <a:latin typeface="Century Gothic" panose="020B0502020202020204" pitchFamily="34" charset="0"/>
              </a:rPr>
              <a:t>Installer Jenkins comme </a:t>
            </a:r>
            <a:r>
              <a:rPr lang="fr-FR" sz="2400" b="1" dirty="0">
                <a:latin typeface="Century Gothic" panose="020B0502020202020204" pitchFamily="34" charset="0"/>
              </a:rPr>
              <a:t>conteneur Docker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10331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9BFC38C-3B2B-42BB-99B4-D3A5FA372FC8}"/>
              </a:ext>
            </a:extLst>
          </p:cNvPr>
          <p:cNvSpPr txBox="1"/>
          <p:nvPr/>
        </p:nvSpPr>
        <p:spPr>
          <a:xfrm>
            <a:off x="128722" y="780098"/>
            <a:ext cx="118201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Pour la démonstration utilisée dans ce Lab, nous allons procéder comme suit :</a:t>
            </a:r>
          </a:p>
          <a:p>
            <a:pPr algn="just"/>
            <a:endParaRPr lang="fr-FR" sz="2400" dirty="0">
              <a:latin typeface="Century Gothic" panose="020B0502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 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(configuration 1)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FFD3FC-6E26-4182-8F54-99F378740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293" y="6061679"/>
            <a:ext cx="2130038" cy="39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que 2" descr="Ordinateur portable avec un remplissage uni">
            <a:extLst>
              <a:ext uri="{FF2B5EF4-FFF2-40B4-BE49-F238E27FC236}">
                <a16:creationId xmlns:a16="http://schemas.microsoft.com/office/drawing/2014/main" id="{D61035FE-B2B0-412B-8419-7EFF293EA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4417" y="5015428"/>
            <a:ext cx="914400" cy="9144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29585F5-AE9A-4AEB-9906-5B5696BEA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072" y="1879153"/>
            <a:ext cx="1761543" cy="567217"/>
          </a:xfrm>
          <a:prstGeom prst="rect">
            <a:avLst/>
          </a:prstGeom>
        </p:spPr>
      </p:pic>
      <p:pic>
        <p:nvPicPr>
          <p:cNvPr id="2060" name="Picture 12" descr="Ubuntu – Ubuntu 20.04 LTS Version Released… – Griffon's IT Library">
            <a:extLst>
              <a:ext uri="{FF2B5EF4-FFF2-40B4-BE49-F238E27FC236}">
                <a16:creationId xmlns:a16="http://schemas.microsoft.com/office/drawing/2014/main" id="{24DBE7AF-9A83-4CFA-9459-F17D03C7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964" y="5864268"/>
            <a:ext cx="971551" cy="82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que 10" descr="Cube contour">
            <a:extLst>
              <a:ext uri="{FF2B5EF4-FFF2-40B4-BE49-F238E27FC236}">
                <a16:creationId xmlns:a16="http://schemas.microsoft.com/office/drawing/2014/main" id="{BF11FCC0-C8A5-487D-8A01-BD98D4B40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3023" y="4977594"/>
            <a:ext cx="914400" cy="9144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449DD80-EF27-43A9-964E-F7EF43C32B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983" y="2398458"/>
            <a:ext cx="1520040" cy="855023"/>
          </a:xfrm>
          <a:prstGeom prst="rect">
            <a:avLst/>
          </a:prstGeom>
        </p:spPr>
      </p:pic>
      <p:pic>
        <p:nvPicPr>
          <p:cNvPr id="2062" name="Picture 14" descr="How to use Terminal on Mac - Macworld UK">
            <a:extLst>
              <a:ext uri="{FF2B5EF4-FFF2-40B4-BE49-F238E27FC236}">
                <a16:creationId xmlns:a16="http://schemas.microsoft.com/office/drawing/2014/main" id="{4D932576-2514-43DA-B9CF-B8214777A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4" y="2660662"/>
            <a:ext cx="988031" cy="59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27C1BF5-C963-4095-85B3-7474D5D7ED99}"/>
              </a:ext>
            </a:extLst>
          </p:cNvPr>
          <p:cNvSpPr txBox="1"/>
          <p:nvPr/>
        </p:nvSpPr>
        <p:spPr>
          <a:xfrm>
            <a:off x="3410317" y="3190915"/>
            <a:ext cx="1153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D8D84B6-173F-4896-8E0E-6DD760B979CA}"/>
              </a:ext>
            </a:extLst>
          </p:cNvPr>
          <p:cNvSpPr txBox="1"/>
          <p:nvPr/>
        </p:nvSpPr>
        <p:spPr>
          <a:xfrm>
            <a:off x="2435691" y="5246346"/>
            <a:ext cx="2468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Machine physique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6BA8D32-8D4B-4A59-AEF6-D58E57615A80}"/>
              </a:ext>
            </a:extLst>
          </p:cNvPr>
          <p:cNvSpPr txBox="1"/>
          <p:nvPr/>
        </p:nvSpPr>
        <p:spPr>
          <a:xfrm>
            <a:off x="7983020" y="5234739"/>
            <a:ext cx="2472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Machine virtuelle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83E0EEA-E6DD-49B3-A9B6-BBF86416B7D8}"/>
              </a:ext>
            </a:extLst>
          </p:cNvPr>
          <p:cNvCxnSpPr>
            <a:cxnSpLocks/>
          </p:cNvCxnSpPr>
          <p:nvPr/>
        </p:nvCxnSpPr>
        <p:spPr>
          <a:xfrm>
            <a:off x="4650505" y="2161221"/>
            <a:ext cx="161609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Résultat de recherche d'images pour &quot;jenkins logo&quot;">
            <a:extLst>
              <a:ext uri="{FF2B5EF4-FFF2-40B4-BE49-F238E27FC236}">
                <a16:creationId xmlns:a16="http://schemas.microsoft.com/office/drawing/2014/main" id="{982DA8BC-46A2-4E75-B426-868253DDD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810" y="3677549"/>
            <a:ext cx="1676891" cy="8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Résultat de recherche d'images pour &quot;git logo&quot;">
            <a:extLst>
              <a:ext uri="{FF2B5EF4-FFF2-40B4-BE49-F238E27FC236}">
                <a16:creationId xmlns:a16="http://schemas.microsoft.com/office/drawing/2014/main" id="{C19C2761-2F98-4CAC-8F10-1248719F5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778" y="3096048"/>
            <a:ext cx="794347" cy="3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Voyage Autour De La Terre Disparaissent Le Concept De Voyage Illustration  de Vecteur - Illustration du concept, terre: 95256015">
            <a:extLst>
              <a:ext uri="{FF2B5EF4-FFF2-40B4-BE49-F238E27FC236}">
                <a16:creationId xmlns:a16="http://schemas.microsoft.com/office/drawing/2014/main" id="{A4F33679-778E-4146-B61B-82AC1902A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979" y="3707940"/>
            <a:ext cx="719038" cy="71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D03DE68F-EA86-4871-AFB1-74650DC5374D}"/>
              </a:ext>
            </a:extLst>
          </p:cNvPr>
          <p:cNvSpPr txBox="1"/>
          <p:nvPr/>
        </p:nvSpPr>
        <p:spPr>
          <a:xfrm>
            <a:off x="3284447" y="4333915"/>
            <a:ext cx="146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Navigateur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5659E335-FA15-46CC-894C-BFE8E349266A}"/>
              </a:ext>
            </a:extLst>
          </p:cNvPr>
          <p:cNvSpPr/>
          <p:nvPr/>
        </p:nvSpPr>
        <p:spPr>
          <a:xfrm>
            <a:off x="1571948" y="1718725"/>
            <a:ext cx="3342785" cy="326303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492CCD7E-F5A7-42B3-AFA5-59DCDEC98187}"/>
              </a:ext>
            </a:extLst>
          </p:cNvPr>
          <p:cNvSpPr/>
          <p:nvPr/>
        </p:nvSpPr>
        <p:spPr>
          <a:xfrm>
            <a:off x="6276872" y="1677033"/>
            <a:ext cx="4483218" cy="326303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5B38EE52-F870-4440-906F-F3F1CA8BE0C0}"/>
              </a:ext>
            </a:extLst>
          </p:cNvPr>
          <p:cNvCxnSpPr>
            <a:cxnSpLocks/>
          </p:cNvCxnSpPr>
          <p:nvPr/>
        </p:nvCxnSpPr>
        <p:spPr>
          <a:xfrm flipH="1">
            <a:off x="8561003" y="3387904"/>
            <a:ext cx="1" cy="4758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AC298337-EB52-4D02-859A-65AC9E549C8D}"/>
              </a:ext>
            </a:extLst>
          </p:cNvPr>
          <p:cNvCxnSpPr>
            <a:cxnSpLocks/>
          </p:cNvCxnSpPr>
          <p:nvPr/>
        </p:nvCxnSpPr>
        <p:spPr>
          <a:xfrm>
            <a:off x="4448563" y="2809399"/>
            <a:ext cx="3082398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3EC752E7-3765-4CCC-B9BE-7BEDC70395FE}"/>
              </a:ext>
            </a:extLst>
          </p:cNvPr>
          <p:cNvSpPr txBox="1"/>
          <p:nvPr/>
        </p:nvSpPr>
        <p:spPr>
          <a:xfrm>
            <a:off x="5144909" y="2839165"/>
            <a:ext cx="1107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REST API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368BFE06-F108-4EE3-A5BD-D7E86EC9DA08}"/>
              </a:ext>
            </a:extLst>
          </p:cNvPr>
          <p:cNvCxnSpPr>
            <a:cxnSpLocks/>
          </p:cNvCxnSpPr>
          <p:nvPr/>
        </p:nvCxnSpPr>
        <p:spPr>
          <a:xfrm flipV="1">
            <a:off x="4473697" y="4024274"/>
            <a:ext cx="3057264" cy="14965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5987997A-D8FC-47C7-BB8C-0555B7AA1521}"/>
              </a:ext>
            </a:extLst>
          </p:cNvPr>
          <p:cNvSpPr txBox="1"/>
          <p:nvPr/>
        </p:nvSpPr>
        <p:spPr>
          <a:xfrm>
            <a:off x="5069702" y="4090804"/>
            <a:ext cx="1107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A41DE05F-BAE3-4068-B5FB-029A6F267EAA}"/>
              </a:ext>
            </a:extLst>
          </p:cNvPr>
          <p:cNvSpPr txBox="1"/>
          <p:nvPr/>
        </p:nvSpPr>
        <p:spPr>
          <a:xfrm>
            <a:off x="8148111" y="4261329"/>
            <a:ext cx="1273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(conteneur)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02352873-D0D6-4838-B901-0D51C2DBB28E}"/>
              </a:ext>
            </a:extLst>
          </p:cNvPr>
          <p:cNvCxnSpPr>
            <a:cxnSpLocks/>
          </p:cNvCxnSpPr>
          <p:nvPr/>
        </p:nvCxnSpPr>
        <p:spPr>
          <a:xfrm>
            <a:off x="10315254" y="6212211"/>
            <a:ext cx="80164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9526A100-52DF-4772-97D0-A61058D9912E}"/>
              </a:ext>
            </a:extLst>
          </p:cNvPr>
          <p:cNvCxnSpPr>
            <a:cxnSpLocks/>
          </p:cNvCxnSpPr>
          <p:nvPr/>
        </p:nvCxnSpPr>
        <p:spPr>
          <a:xfrm>
            <a:off x="10403285" y="6533725"/>
            <a:ext cx="71360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CEC21ABA-C268-4E09-8012-BFC7F46A5084}"/>
              </a:ext>
            </a:extLst>
          </p:cNvPr>
          <p:cNvSpPr txBox="1"/>
          <p:nvPr/>
        </p:nvSpPr>
        <p:spPr>
          <a:xfrm>
            <a:off x="11047067" y="6038298"/>
            <a:ext cx="1186029" cy="347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connexion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43F47B6-95F1-47EC-8C16-FBC8C28B4BF0}"/>
              </a:ext>
            </a:extLst>
          </p:cNvPr>
          <p:cNvSpPr txBox="1"/>
          <p:nvPr/>
        </p:nvSpPr>
        <p:spPr>
          <a:xfrm>
            <a:off x="11080402" y="6386124"/>
            <a:ext cx="971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création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91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9BFC38C-3B2B-42BB-99B4-D3A5FA372FC8}"/>
              </a:ext>
            </a:extLst>
          </p:cNvPr>
          <p:cNvSpPr txBox="1"/>
          <p:nvPr/>
        </p:nvSpPr>
        <p:spPr>
          <a:xfrm>
            <a:off x="128722" y="780098"/>
            <a:ext cx="11820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Une autre configuration est aussi possible.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 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(configuration 2)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FFD3FC-6E26-4182-8F54-99F378740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78" y="6061679"/>
            <a:ext cx="2130038" cy="39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que 2" descr="Ordinateur portable avec un remplissage uni">
            <a:extLst>
              <a:ext uri="{FF2B5EF4-FFF2-40B4-BE49-F238E27FC236}">
                <a16:creationId xmlns:a16="http://schemas.microsoft.com/office/drawing/2014/main" id="{D61035FE-B2B0-412B-8419-7EFF293EA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602" y="5015428"/>
            <a:ext cx="914400" cy="9144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29585F5-AE9A-4AEB-9906-5B5696BEA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079" y="1879153"/>
            <a:ext cx="1761543" cy="567217"/>
          </a:xfrm>
          <a:prstGeom prst="rect">
            <a:avLst/>
          </a:prstGeom>
        </p:spPr>
      </p:pic>
      <p:pic>
        <p:nvPicPr>
          <p:cNvPr id="2060" name="Picture 12" descr="Ubuntu – Ubuntu 20.04 LTS Version Released… – Griffon's IT Library">
            <a:extLst>
              <a:ext uri="{FF2B5EF4-FFF2-40B4-BE49-F238E27FC236}">
                <a16:creationId xmlns:a16="http://schemas.microsoft.com/office/drawing/2014/main" id="{24DBE7AF-9A83-4CFA-9459-F17D03C7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224" y="5899093"/>
            <a:ext cx="971551" cy="82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que 10" descr="Cube contour">
            <a:extLst>
              <a:ext uri="{FF2B5EF4-FFF2-40B4-BE49-F238E27FC236}">
                <a16:creationId xmlns:a16="http://schemas.microsoft.com/office/drawing/2014/main" id="{BF11FCC0-C8A5-487D-8A01-BD98D4B40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1748" y="4977594"/>
            <a:ext cx="914400" cy="9144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449DD80-EF27-43A9-964E-F7EF43C32B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80" y="3024130"/>
            <a:ext cx="845952" cy="475848"/>
          </a:xfrm>
          <a:prstGeom prst="rect">
            <a:avLst/>
          </a:prstGeom>
        </p:spPr>
      </p:pic>
      <p:pic>
        <p:nvPicPr>
          <p:cNvPr id="2062" name="Picture 14" descr="How to use Terminal on Mac - Macworld UK">
            <a:extLst>
              <a:ext uri="{FF2B5EF4-FFF2-40B4-BE49-F238E27FC236}">
                <a16:creationId xmlns:a16="http://schemas.microsoft.com/office/drawing/2014/main" id="{4D932576-2514-43DA-B9CF-B8214777A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769" y="2660662"/>
            <a:ext cx="988031" cy="59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27C1BF5-C963-4095-85B3-7474D5D7ED99}"/>
              </a:ext>
            </a:extLst>
          </p:cNvPr>
          <p:cNvSpPr txBox="1"/>
          <p:nvPr/>
        </p:nvSpPr>
        <p:spPr>
          <a:xfrm>
            <a:off x="2105502" y="3190915"/>
            <a:ext cx="1153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D8D84B6-173F-4896-8E0E-6DD760B979CA}"/>
              </a:ext>
            </a:extLst>
          </p:cNvPr>
          <p:cNvSpPr txBox="1"/>
          <p:nvPr/>
        </p:nvSpPr>
        <p:spPr>
          <a:xfrm>
            <a:off x="1130876" y="5246346"/>
            <a:ext cx="2468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Machine physique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6BA8D32-8D4B-4A59-AEF6-D58E57615A80}"/>
              </a:ext>
            </a:extLst>
          </p:cNvPr>
          <p:cNvSpPr txBox="1"/>
          <p:nvPr/>
        </p:nvSpPr>
        <p:spPr>
          <a:xfrm>
            <a:off x="5311745" y="5234739"/>
            <a:ext cx="2472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Machine virtuelle 1</a:t>
            </a:r>
          </a:p>
          <a:p>
            <a:pPr algn="ctr"/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(Serveur Jenkins)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83E0EEA-E6DD-49B3-A9B6-BBF86416B7D8}"/>
              </a:ext>
            </a:extLst>
          </p:cNvPr>
          <p:cNvCxnSpPr>
            <a:cxnSpLocks/>
          </p:cNvCxnSpPr>
          <p:nvPr/>
        </p:nvCxnSpPr>
        <p:spPr>
          <a:xfrm>
            <a:off x="3345690" y="2335879"/>
            <a:ext cx="161609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Résultat de recherche d'images pour &quot;jenkins logo&quot;">
            <a:extLst>
              <a:ext uri="{FF2B5EF4-FFF2-40B4-BE49-F238E27FC236}">
                <a16:creationId xmlns:a16="http://schemas.microsoft.com/office/drawing/2014/main" id="{982DA8BC-46A2-4E75-B426-868253DDD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553" y="2144219"/>
            <a:ext cx="1676891" cy="8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Résultat de recherche d'images pour &quot;git logo&quot;">
            <a:extLst>
              <a:ext uri="{FF2B5EF4-FFF2-40B4-BE49-F238E27FC236}">
                <a16:creationId xmlns:a16="http://schemas.microsoft.com/office/drawing/2014/main" id="{C19C2761-2F98-4CAC-8F10-1248719F5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63" y="3096048"/>
            <a:ext cx="794347" cy="3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Voyage Autour De La Terre Disparaissent Le Concept De Voyage Illustration  de Vecteur - Illustration du concept, terre: 95256015">
            <a:extLst>
              <a:ext uri="{FF2B5EF4-FFF2-40B4-BE49-F238E27FC236}">
                <a16:creationId xmlns:a16="http://schemas.microsoft.com/office/drawing/2014/main" id="{A4F33679-778E-4146-B61B-82AC1902A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164" y="3707940"/>
            <a:ext cx="719038" cy="71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D03DE68F-EA86-4871-AFB1-74650DC5374D}"/>
              </a:ext>
            </a:extLst>
          </p:cNvPr>
          <p:cNvSpPr txBox="1"/>
          <p:nvPr/>
        </p:nvSpPr>
        <p:spPr>
          <a:xfrm>
            <a:off x="1979632" y="4333915"/>
            <a:ext cx="146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Navigateur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5659E335-FA15-46CC-894C-BFE8E349266A}"/>
              </a:ext>
            </a:extLst>
          </p:cNvPr>
          <p:cNvSpPr/>
          <p:nvPr/>
        </p:nvSpPr>
        <p:spPr>
          <a:xfrm>
            <a:off x="267133" y="1718725"/>
            <a:ext cx="3342785" cy="326303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492CCD7E-F5A7-42B3-AFA5-59DCDEC98187}"/>
              </a:ext>
            </a:extLst>
          </p:cNvPr>
          <p:cNvSpPr/>
          <p:nvPr/>
        </p:nvSpPr>
        <p:spPr>
          <a:xfrm>
            <a:off x="4972056" y="1677033"/>
            <a:ext cx="2258157" cy="326303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3" name="Picture 12" descr="Ubuntu – Ubuntu 20.04 LTS Version Released… – Griffon's IT Library">
            <a:extLst>
              <a:ext uri="{FF2B5EF4-FFF2-40B4-BE49-F238E27FC236}">
                <a16:creationId xmlns:a16="http://schemas.microsoft.com/office/drawing/2014/main" id="{0DB53B60-4EAE-4057-822A-A2611B6F5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133" y="5890284"/>
            <a:ext cx="971551" cy="82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Graphique 33" descr="Cube contour">
            <a:extLst>
              <a:ext uri="{FF2B5EF4-FFF2-40B4-BE49-F238E27FC236}">
                <a16:creationId xmlns:a16="http://schemas.microsoft.com/office/drawing/2014/main" id="{02FB0A46-A67D-4548-9C45-8A4ABDC3DF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1060" y="4975884"/>
            <a:ext cx="914400" cy="91440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4BBCD2C0-959F-4918-BC46-C8370D07C7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184" y="2381887"/>
            <a:ext cx="1520040" cy="855023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EA71DC61-AEE7-4F6C-A242-66CC14AFC600}"/>
              </a:ext>
            </a:extLst>
          </p:cNvPr>
          <p:cNvSpPr txBox="1"/>
          <p:nvPr/>
        </p:nvSpPr>
        <p:spPr>
          <a:xfrm>
            <a:off x="8700509" y="5233029"/>
            <a:ext cx="3412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Machine virtuelle 2</a:t>
            </a:r>
          </a:p>
          <a:p>
            <a:pPr algn="ctr"/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 (Serveur de Déploiement)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49BF5E65-2C01-42BC-BBA8-6D125CD77A87}"/>
              </a:ext>
            </a:extLst>
          </p:cNvPr>
          <p:cNvSpPr/>
          <p:nvPr/>
        </p:nvSpPr>
        <p:spPr>
          <a:xfrm>
            <a:off x="8617671" y="1675323"/>
            <a:ext cx="2258157" cy="326303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5F821E3-F74E-42BB-8A1E-2DE437873245}"/>
              </a:ext>
            </a:extLst>
          </p:cNvPr>
          <p:cNvCxnSpPr>
            <a:cxnSpLocks/>
          </p:cNvCxnSpPr>
          <p:nvPr/>
        </p:nvCxnSpPr>
        <p:spPr>
          <a:xfrm>
            <a:off x="3345689" y="1974574"/>
            <a:ext cx="52719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0273E67-3503-464F-8224-B9129C35317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71622" y="2162762"/>
            <a:ext cx="100836" cy="160356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F602EE3-63B5-4B22-A702-A79B944F72E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271622" y="1984653"/>
            <a:ext cx="104889" cy="178109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57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74D87E0-D535-4A80-AB74-6209DC71C064}"/>
              </a:ext>
            </a:extLst>
          </p:cNvPr>
          <p:cNvSpPr txBox="1"/>
          <p:nvPr/>
        </p:nvSpPr>
        <p:spPr>
          <a:xfrm>
            <a:off x="321924" y="4205654"/>
            <a:ext cx="11548152" cy="13234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FR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–d -v /var/run/docker.sock:/var/run/docker.sock -v $(which docker):$(which docker) -p 8081:8080 -p 50000:50000 jenkins/jenkins:lts</a:t>
            </a:r>
            <a:endParaRPr lang="fr-FR" sz="4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9BFC38C-3B2B-42BB-99B4-D3A5FA372FC8}"/>
              </a:ext>
            </a:extLst>
          </p:cNvPr>
          <p:cNvSpPr txBox="1"/>
          <p:nvPr/>
        </p:nvSpPr>
        <p:spPr>
          <a:xfrm>
            <a:off x="128722" y="1016401"/>
            <a:ext cx="120632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Pour installer Jenkins comme conteneur, nous allons se baser sur cette </a:t>
            </a:r>
            <a:r>
              <a:rPr lang="fr-FR" sz="2000" dirty="0">
                <a:latin typeface="Century Gothic" panose="020B0502020202020204" pitchFamily="34" charset="0"/>
                <a:hlinkClick r:id="rId3"/>
              </a:rPr>
              <a:t>image Docker</a:t>
            </a:r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r>
              <a:rPr lang="fr-FR" sz="2000" dirty="0">
                <a:latin typeface="Century Gothic" panose="020B0502020202020204" pitchFamily="34" charset="0"/>
              </a:rPr>
              <a:t>Afin d’utiliser </a:t>
            </a:r>
            <a:r>
              <a:rPr lang="fr-FR" sz="20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Docker</a:t>
            </a:r>
            <a:r>
              <a:rPr lang="fr-FR" sz="2000" dirty="0">
                <a:latin typeface="Century Gothic" panose="020B0502020202020204" pitchFamily="34" charset="0"/>
              </a:rPr>
              <a:t> depuis Jenkins, nous avons deux choix :</a:t>
            </a:r>
          </a:p>
          <a:p>
            <a:pPr marL="914400" lvl="1" indent="-457200" algn="just">
              <a:buFont typeface="+mj-lt"/>
              <a:buAutoNum type="arabicPeriod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fr-FR" sz="2000" dirty="0">
                <a:latin typeface="Century Gothic" panose="020B0502020202020204" pitchFamily="34" charset="0"/>
              </a:rPr>
              <a:t>Installer Docker à l’intérieur du conteneur Jenkins </a:t>
            </a:r>
            <a:r>
              <a:rPr lang="fr-FR" i="1" dirty="0">
                <a:latin typeface="Century Gothic" panose="020B0502020202020204" pitchFamily="34" charset="0"/>
              </a:rPr>
              <a:t>(pas trop recommandé pour notre cas)</a:t>
            </a:r>
            <a:endParaRPr lang="fr-FR" sz="2000" i="1" dirty="0">
              <a:latin typeface="Century Gothic" panose="020B0502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fr-FR" sz="2000" dirty="0">
                <a:latin typeface="Century Gothic" panose="020B0502020202020204" pitchFamily="34" charset="0"/>
              </a:rPr>
              <a:t>Lier Jenkins avec le Docker Engine Hôte (lors de la création du conteneur Jenkins) via la commande 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4263976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B3F9707-221D-40A0-8378-3FC2CEAFFD81}"/>
              </a:ext>
            </a:extLst>
          </p:cNvPr>
          <p:cNvSpPr txBox="1"/>
          <p:nvPr/>
        </p:nvSpPr>
        <p:spPr>
          <a:xfrm>
            <a:off x="64361" y="768107"/>
            <a:ext cx="1206327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Taper </a:t>
            </a:r>
            <a:r>
              <a:rPr lang="fr-FR" sz="2000" b="1" dirty="0">
                <a:latin typeface="Century Gothic" panose="020B0502020202020204" pitchFamily="34" charset="0"/>
              </a:rPr>
              <a:t>$ docker </a:t>
            </a:r>
            <a:r>
              <a:rPr lang="fr-FR" sz="2000" b="1" dirty="0" err="1">
                <a:latin typeface="Century Gothic" panose="020B0502020202020204" pitchFamily="34" charset="0"/>
              </a:rPr>
              <a:t>ps</a:t>
            </a:r>
            <a:r>
              <a:rPr lang="fr-FR" sz="2000" dirty="0">
                <a:latin typeface="Century Gothic" panose="020B0502020202020204" pitchFamily="34" charset="0"/>
              </a:rPr>
              <a:t> pour s’assurer que le conteneur Jenkins a été créé correctement.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Récupérer </a:t>
            </a:r>
            <a:r>
              <a:rPr lang="fr-FR" sz="2000" dirty="0" err="1">
                <a:latin typeface="Century Gothic" panose="020B0502020202020204" pitchFamily="34" charset="0"/>
              </a:rPr>
              <a:t>l’id</a:t>
            </a:r>
            <a:r>
              <a:rPr lang="fr-FR" sz="2000" dirty="0">
                <a:latin typeface="Century Gothic" panose="020B0502020202020204" pitchFamily="34" charset="0"/>
              </a:rPr>
              <a:t> du conteneur créé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Taper </a:t>
            </a:r>
            <a:r>
              <a:rPr lang="fr-FR" sz="2000" b="1" dirty="0">
                <a:latin typeface="Century Gothic" panose="020B0502020202020204" pitchFamily="34" charset="0"/>
              </a:rPr>
              <a:t>$ docker logs &lt;</a:t>
            </a:r>
            <a:r>
              <a:rPr lang="fr-FR" sz="2000" b="1" dirty="0" err="1">
                <a:latin typeface="Century Gothic" panose="020B0502020202020204" pitchFamily="34" charset="0"/>
              </a:rPr>
              <a:t>id_conteneur_jenkins</a:t>
            </a:r>
            <a:r>
              <a:rPr lang="fr-FR" sz="2000" b="1" dirty="0">
                <a:latin typeface="Century Gothic" panose="020B0502020202020204" pitchFamily="34" charset="0"/>
              </a:rPr>
              <a:t>&gt;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Copier le mot de passe de l’administrateur pour activer Jenkins.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Pour compléter l’installation de Jenkins, taper dans votre navigateur :</a:t>
            </a:r>
          </a:p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http://your_ip_or_domain:8081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73FE5D-47E6-41FC-8535-3A0D24FD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623" y="3035293"/>
            <a:ext cx="8644698" cy="27489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2D747E-EB37-4245-8477-47D4041E7ECE}"/>
              </a:ext>
            </a:extLst>
          </p:cNvPr>
          <p:cNvSpPr/>
          <p:nvPr/>
        </p:nvSpPr>
        <p:spPr>
          <a:xfrm>
            <a:off x="1859622" y="4368689"/>
            <a:ext cx="3123343" cy="23413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12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E690CB-8D12-4D59-B51A-DF471F26E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216" y="1725658"/>
            <a:ext cx="6154602" cy="49388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43502DB-AE43-4A85-BA65-DD9A378C3AB4}"/>
              </a:ext>
            </a:extLst>
          </p:cNvPr>
          <p:cNvSpPr txBox="1"/>
          <p:nvPr/>
        </p:nvSpPr>
        <p:spPr>
          <a:xfrm>
            <a:off x="128722" y="780098"/>
            <a:ext cx="118201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Une fois sur le navigateur, coller le mot de passe de l’administrateur déjà copié afin de débloquer Jenkins.</a:t>
            </a:r>
          </a:p>
        </p:txBody>
      </p:sp>
    </p:spTree>
    <p:extLst>
      <p:ext uri="{BB962C8B-B14F-4D97-AF65-F5344CB8AC3E}">
        <p14:creationId xmlns:p14="http://schemas.microsoft.com/office/powerpoint/2010/main" val="235246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FF89D6-3240-48D8-8184-BBFB6EB2E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" y="1880168"/>
            <a:ext cx="5960434" cy="4777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FC80E82-D29F-449F-925B-6309D7779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16" y="1880167"/>
            <a:ext cx="6179602" cy="4777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809D11E-FA4B-416D-9121-2086BC7DA2D5}"/>
              </a:ext>
            </a:extLst>
          </p:cNvPr>
          <p:cNvSpPr txBox="1"/>
          <p:nvPr/>
        </p:nvSpPr>
        <p:spPr>
          <a:xfrm>
            <a:off x="128722" y="780098"/>
            <a:ext cx="11820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L’étape suivante sera l’installation des plugins Jenkins de base. </a:t>
            </a:r>
          </a:p>
          <a:p>
            <a:pPr algn="just"/>
            <a:r>
              <a:rPr lang="fr-FR" sz="2000" i="1" dirty="0">
                <a:latin typeface="Century Gothic" panose="020B0502020202020204" pitchFamily="34" charset="0"/>
              </a:rPr>
              <a:t>(choisir : </a:t>
            </a:r>
            <a:r>
              <a:rPr lang="en-CA" sz="2000" i="1" dirty="0">
                <a:latin typeface="Century Gothic" panose="020B0502020202020204" pitchFamily="34" charset="0"/>
              </a:rPr>
              <a:t>Install suggested plugins</a:t>
            </a:r>
            <a:r>
              <a:rPr lang="fr-FR" sz="2000" i="1" dirty="0">
                <a:latin typeface="Century Gothic" panose="020B0502020202020204" pitchFamily="34" charset="0"/>
              </a:rPr>
              <a:t>)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46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1E00A5-97DA-4D11-B60B-D2E6B5954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217" y="1912686"/>
            <a:ext cx="8165565" cy="45996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81C4CE-EEC5-4367-A8B1-C8D17D5711C1}"/>
              </a:ext>
            </a:extLst>
          </p:cNvPr>
          <p:cNvSpPr txBox="1"/>
          <p:nvPr/>
        </p:nvSpPr>
        <p:spPr>
          <a:xfrm>
            <a:off x="128722" y="780098"/>
            <a:ext cx="118201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A la fin, il faudra créer l’utilisateur Admin en remplissant les coordonnées suivants :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75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81C4CE-EEC5-4367-A8B1-C8D17D5711C1}"/>
              </a:ext>
            </a:extLst>
          </p:cNvPr>
          <p:cNvSpPr txBox="1"/>
          <p:nvPr/>
        </p:nvSpPr>
        <p:spPr>
          <a:xfrm>
            <a:off x="128722" y="780098"/>
            <a:ext cx="11820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Des étapes supplémentaires ne nécessitant pas de configurations.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27B344-204F-4D76-907D-0DDE63287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0" y="1982912"/>
            <a:ext cx="5176074" cy="42175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B20DDFD-86D0-4640-B84F-5374EC2FD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66" y="1982228"/>
            <a:ext cx="5320934" cy="42130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504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81C4CE-EEC5-4367-A8B1-C8D17D5711C1}"/>
              </a:ext>
            </a:extLst>
          </p:cNvPr>
          <p:cNvSpPr txBox="1"/>
          <p:nvPr/>
        </p:nvSpPr>
        <p:spPr>
          <a:xfrm>
            <a:off x="128722" y="780098"/>
            <a:ext cx="11820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La page d’authentification de Jenkins va apparaître par la suite.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0931C8-F927-4982-A3A7-A9BA2B9FA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058" y="1618824"/>
            <a:ext cx="4743450" cy="4914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911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81C4CE-EEC5-4367-A8B1-C8D17D5711C1}"/>
              </a:ext>
            </a:extLst>
          </p:cNvPr>
          <p:cNvSpPr txBox="1"/>
          <p:nvPr/>
        </p:nvSpPr>
        <p:spPr>
          <a:xfrm>
            <a:off x="128722" y="780098"/>
            <a:ext cx="11820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Une fois authentifié, la page d’accueil de Jenkins ressemblera à cela :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 descr="How To Build Docker Images Automatically With Jenkins Pipeline — NimbleCI  Blog">
            <a:extLst>
              <a:ext uri="{FF2B5EF4-FFF2-40B4-BE49-F238E27FC236}">
                <a16:creationId xmlns:a16="http://schemas.microsoft.com/office/drawing/2014/main" id="{42F3BA2B-4222-4A18-998B-BC2D4BC1A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65" y="1389287"/>
            <a:ext cx="9563100" cy="5124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06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CCF8594C-844B-46D6-AB02-C430C363A2CD}"/>
              </a:ext>
            </a:extLst>
          </p:cNvPr>
          <p:cNvSpPr txBox="1"/>
          <p:nvPr/>
        </p:nvSpPr>
        <p:spPr>
          <a:xfrm>
            <a:off x="128722" y="-16154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Installation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81C4CE-EEC5-4367-A8B1-C8D17D5711C1}"/>
              </a:ext>
            </a:extLst>
          </p:cNvPr>
          <p:cNvSpPr txBox="1"/>
          <p:nvPr/>
        </p:nvSpPr>
        <p:spPr>
          <a:xfrm>
            <a:off x="128722" y="543527"/>
            <a:ext cx="1182012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Toujours afin d’utiliser </a:t>
            </a:r>
            <a:r>
              <a:rPr lang="fr-FR" sz="2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Docker</a:t>
            </a:r>
            <a:r>
              <a:rPr lang="fr-FR" sz="2200" dirty="0">
                <a:latin typeface="Century Gothic" panose="020B0502020202020204" pitchFamily="34" charset="0"/>
              </a:rPr>
              <a:t> correctement sur Jenkins, il faudra :</a:t>
            </a:r>
          </a:p>
          <a:p>
            <a:pPr algn="just"/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Century Gothic" panose="020B0502020202020204" pitchFamily="34" charset="0"/>
              </a:rPr>
              <a:t>Accéder au conteneur Jenkins avec les droits d’administrateur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Century Gothic" panose="020B0502020202020204" pitchFamily="34" charset="0"/>
              </a:rPr>
              <a:t>Créer un groupe docker (si vous ne l’avez pas encore fait)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Century Gothic" panose="020B0502020202020204" pitchFamily="34" charset="0"/>
              </a:rPr>
              <a:t>Créer un utilisateur Jenkins et l’ajouter au groupe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Century Gothic" panose="020B0502020202020204" pitchFamily="34" charset="0"/>
              </a:rPr>
              <a:t>Sortir du conteneur avec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200" dirty="0">
                <a:latin typeface="Century Gothic" panose="020B0502020202020204" pitchFamily="34" charset="0"/>
              </a:rPr>
              <a:t>Se déconnecter de Jenkins (</a:t>
            </a:r>
            <a:r>
              <a:rPr lang="fr-FR" sz="2200" dirty="0" err="1">
                <a:latin typeface="Century Gothic" panose="020B0502020202020204" pitchFamily="34" charset="0"/>
              </a:rPr>
              <a:t>Logout</a:t>
            </a:r>
            <a:r>
              <a:rPr lang="fr-FR" sz="2200" dirty="0">
                <a:latin typeface="Century Gothic" panose="020B0502020202020204" pitchFamily="34" charset="0"/>
              </a:rPr>
              <a:t>)</a:t>
            </a: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      </a:t>
            </a:r>
          </a:p>
          <a:p>
            <a:pPr algn="just"/>
            <a:r>
              <a:rPr lang="fr-FR" sz="1600" dirty="0">
                <a:latin typeface="Century Gothic" panose="020B0502020202020204" pitchFamily="34" charset="0"/>
              </a:rPr>
              <a:t>(*) Ces modifications peuvent être perdues si on redémarre notre conteneur</a:t>
            </a:r>
            <a:r>
              <a:rPr lang="fr-FR" sz="220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fr-FR" sz="2200" dirty="0">
              <a:latin typeface="Century Gothic" panose="020B0502020202020204" pitchFamily="34" charset="0"/>
            </a:endParaRP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Cela nous permettra d’utiliser la commande </a:t>
            </a:r>
            <a:r>
              <a:rPr lang="fr-FR" sz="2200" b="1" dirty="0">
                <a:latin typeface="Century Gothic" panose="020B0502020202020204" pitchFamily="34" charset="0"/>
              </a:rPr>
              <a:t>$ docker</a:t>
            </a:r>
            <a:r>
              <a:rPr lang="fr-FR" sz="2200" dirty="0">
                <a:latin typeface="Century Gothic" panose="020B0502020202020204" pitchFamily="34" charset="0"/>
              </a:rPr>
              <a:t> depuis Jenkins tout en évitant des erreurs de type :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Open Sans"/>
              </a:rPr>
              <a:t>dial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Open Sans"/>
              </a:rPr>
              <a:t>unix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Open Sans"/>
              </a:rPr>
              <a:t> /var/run/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Open Sans"/>
              </a:rPr>
              <a:t>docker.sock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Open Sans"/>
              </a:rPr>
              <a:t>: connect: permission denied</a:t>
            </a:r>
            <a:r>
              <a:rPr lang="fr-FR" sz="22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DB4F12-D2EA-40B5-B2DE-BF0AE69D5B93}"/>
              </a:ext>
            </a:extLst>
          </p:cNvPr>
          <p:cNvSpPr txBox="1"/>
          <p:nvPr/>
        </p:nvSpPr>
        <p:spPr>
          <a:xfrm>
            <a:off x="966951" y="1612943"/>
            <a:ext cx="9351904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sv-SE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exec –it –u 0 &lt;id_conteneur_jenkins&gt; bash</a:t>
            </a:r>
            <a:endParaRPr lang="fr-FR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DF6057-F99C-4E45-B2B6-85724F9968CF}"/>
              </a:ext>
            </a:extLst>
          </p:cNvPr>
          <p:cNvSpPr txBox="1"/>
          <p:nvPr/>
        </p:nvSpPr>
        <p:spPr>
          <a:xfrm>
            <a:off x="966951" y="2626772"/>
            <a:ext cx="3298534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sv-SE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groupadd docker</a:t>
            </a:r>
            <a:endParaRPr lang="fr-FR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CB8FE3-4306-4E99-B00C-1643ABD3316E}"/>
              </a:ext>
            </a:extLst>
          </p:cNvPr>
          <p:cNvSpPr txBox="1"/>
          <p:nvPr/>
        </p:nvSpPr>
        <p:spPr>
          <a:xfrm>
            <a:off x="7360984" y="3144024"/>
            <a:ext cx="4552357" cy="7078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useradd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jenkins</a:t>
            </a:r>
            <a:endParaRPr lang="en-CA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sv-SE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usermod –aG docker jenkins</a:t>
            </a:r>
            <a:endParaRPr lang="fr-FR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B87BD5-A787-479B-8EDE-7F37B38FEA05}"/>
              </a:ext>
            </a:extLst>
          </p:cNvPr>
          <p:cNvSpPr txBox="1"/>
          <p:nvPr/>
        </p:nvSpPr>
        <p:spPr>
          <a:xfrm>
            <a:off x="4148561" y="3923160"/>
            <a:ext cx="1388661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sv-SE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fr-FR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7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1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Le projet Java</a:t>
            </a:r>
          </a:p>
          <a:p>
            <a:pPr algn="ctr"/>
            <a:r>
              <a:rPr lang="fr-FR" sz="4000" dirty="0">
                <a:latin typeface="Century Gothic" panose="020B0502020202020204" pitchFamily="34" charset="0"/>
              </a:rPr>
              <a:t>(code source sur GitHub)</a:t>
            </a:r>
            <a:endParaRPr lang="fr-FR" sz="4800" dirty="0"/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29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3A5218C-B95C-4DCD-A43B-C91B04E5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73" y="1721922"/>
            <a:ext cx="10434453" cy="42046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7731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Projet Java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CF8635-ECD7-44E5-90B0-1D40D468EED3}"/>
              </a:ext>
            </a:extLst>
          </p:cNvPr>
          <p:cNvSpPr txBox="1"/>
          <p:nvPr/>
        </p:nvSpPr>
        <p:spPr>
          <a:xfrm>
            <a:off x="128722" y="780098"/>
            <a:ext cx="11820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Century Gothic" panose="020B0502020202020204" pitchFamily="34" charset="0"/>
              </a:rPr>
              <a:t>Faire un </a:t>
            </a:r>
            <a:r>
              <a:rPr lang="fr-FR" sz="2400" b="1" dirty="0">
                <a:latin typeface="Century Gothic" panose="020B0502020202020204" pitchFamily="34" charset="0"/>
              </a:rPr>
              <a:t>Fork</a:t>
            </a:r>
            <a:r>
              <a:rPr lang="fr-FR" sz="2400" dirty="0">
                <a:latin typeface="Century Gothic" panose="020B0502020202020204" pitchFamily="34" charset="0"/>
              </a:rPr>
              <a:t> au projet Java avec lequel nous allons travailler </a:t>
            </a:r>
            <a:endParaRPr lang="fr-FR" sz="2400" i="1" dirty="0">
              <a:latin typeface="Century Gothic" panose="020B0502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2DA239-5A09-4660-8330-F5F1A6DFF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721" y="6220073"/>
            <a:ext cx="538509" cy="48662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E4FADFB-5D14-4CE0-BD71-AB469C5D9138}"/>
              </a:ext>
            </a:extLst>
          </p:cNvPr>
          <p:cNvSpPr txBox="1"/>
          <p:nvPr/>
        </p:nvSpPr>
        <p:spPr>
          <a:xfrm>
            <a:off x="4504948" y="6263329"/>
            <a:ext cx="31821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  <a:hlinkClick r:id="rId4"/>
              </a:rPr>
              <a:t>URL du projet sur GitHub</a:t>
            </a:r>
            <a:endParaRPr lang="fr-FR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3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en-US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a. SCM Checkout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2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8217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Création du pipeline sur Jenkins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5D7CD9A-A6D6-4A73-9D1A-79622852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19" y="1795638"/>
            <a:ext cx="9917961" cy="4785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780098"/>
            <a:ext cx="118201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</a:rPr>
              <a:t>Cliquer sur </a:t>
            </a:r>
            <a:r>
              <a:rPr lang="fr-FR" sz="2400" b="1" dirty="0">
                <a:latin typeface="Century Gothic" panose="020B0502020202020204" pitchFamily="34" charset="0"/>
              </a:rPr>
              <a:t>New Item</a:t>
            </a:r>
            <a:r>
              <a:rPr lang="fr-FR" sz="2400" dirty="0">
                <a:latin typeface="Century Gothic" panose="020B0502020202020204" pitchFamily="34" charset="0"/>
              </a:rPr>
              <a:t> (Menu à gauche) pour obtenir cette page.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400" dirty="0">
                <a:latin typeface="Century Gothic" panose="020B0502020202020204" pitchFamily="34" charset="0"/>
              </a:rPr>
              <a:t>Puis nommer votre projet et choisir le type </a:t>
            </a:r>
            <a:r>
              <a:rPr lang="fr-FR" sz="2400" b="1" dirty="0">
                <a:latin typeface="Century Gothic" panose="020B0502020202020204" pitchFamily="34" charset="0"/>
              </a:rPr>
              <a:t>Pipeline.</a:t>
            </a:r>
            <a:endParaRPr lang="fr-F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71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8217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Création du pipeline sur Jenkins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801364"/>
            <a:ext cx="118201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Par rapport à notre projet, nous allons écrire un </a:t>
            </a:r>
            <a:r>
              <a:rPr lang="fr-FR" sz="2200" b="1" dirty="0">
                <a:latin typeface="Century Gothic" panose="020B0502020202020204" pitchFamily="34" charset="0"/>
              </a:rPr>
              <a:t>script</a:t>
            </a:r>
            <a:r>
              <a:rPr lang="fr-FR" sz="2200" dirty="0">
                <a:latin typeface="Century Gothic" panose="020B0502020202020204" pitchFamily="34" charset="0"/>
              </a:rPr>
              <a:t> (</a:t>
            </a:r>
            <a:r>
              <a:rPr lang="en-CA" sz="2200" dirty="0">
                <a:latin typeface="Century Gothic" panose="020B0502020202020204" pitchFamily="34" charset="0"/>
              </a:rPr>
              <a:t>Scripted Pipeline Syntax</a:t>
            </a:r>
            <a:r>
              <a:rPr lang="fr-FR" sz="2200" dirty="0">
                <a:latin typeface="Century Gothic" panose="020B0502020202020204" pitchFamily="34" charset="0"/>
              </a:rPr>
              <a:t>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Pour cela, aller à l’onglet </a:t>
            </a:r>
            <a:r>
              <a:rPr lang="fr-FR" sz="2200" b="1" dirty="0">
                <a:latin typeface="Century Gothic" panose="020B0502020202020204" pitchFamily="34" charset="0"/>
              </a:rPr>
              <a:t>Pipeline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Il est possible d’utiliser un </a:t>
            </a:r>
            <a:r>
              <a:rPr lang="fr-FR" sz="2200" b="1" dirty="0">
                <a:latin typeface="Century Gothic" panose="020B0502020202020204" pitchFamily="34" charset="0"/>
              </a:rPr>
              <a:t>générateur de snippets</a:t>
            </a:r>
            <a:r>
              <a:rPr lang="fr-FR" sz="2200" dirty="0">
                <a:latin typeface="Century Gothic" panose="020B0502020202020204" pitchFamily="34" charset="0"/>
              </a:rPr>
              <a:t> en cliquant sur </a:t>
            </a:r>
            <a:r>
              <a:rPr lang="fr-FR" sz="2200" b="1" dirty="0">
                <a:latin typeface="Century Gothic" panose="020B0502020202020204" pitchFamily="34" charset="0"/>
              </a:rPr>
              <a:t>Pipeline </a:t>
            </a:r>
            <a:r>
              <a:rPr lang="fr-FR" sz="2200" b="1" dirty="0" err="1">
                <a:latin typeface="Century Gothic" panose="020B0502020202020204" pitchFamily="34" charset="0"/>
              </a:rPr>
              <a:t>Syntax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D448C3E-2143-4816-861C-6AFC0D985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102" y="2069816"/>
            <a:ext cx="9507796" cy="46151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C8DB1D-4D9B-4AE5-8871-164CECBF7FB9}"/>
              </a:ext>
            </a:extLst>
          </p:cNvPr>
          <p:cNvSpPr/>
          <p:nvPr/>
        </p:nvSpPr>
        <p:spPr>
          <a:xfrm>
            <a:off x="3295017" y="5814722"/>
            <a:ext cx="1011169" cy="245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A61DA-64B6-4661-981B-F4D370D05B9B}"/>
              </a:ext>
            </a:extLst>
          </p:cNvPr>
          <p:cNvSpPr/>
          <p:nvPr/>
        </p:nvSpPr>
        <p:spPr>
          <a:xfrm>
            <a:off x="5511932" y="2358661"/>
            <a:ext cx="654951" cy="3632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D869574-773C-48E8-A77D-D3465B8306F3}"/>
              </a:ext>
            </a:extLst>
          </p:cNvPr>
          <p:cNvSpPr/>
          <p:nvPr/>
        </p:nvSpPr>
        <p:spPr>
          <a:xfrm>
            <a:off x="3923414" y="3429000"/>
            <a:ext cx="1690577" cy="707066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2473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8217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Un peu de théorie !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1887" y="1067179"/>
            <a:ext cx="118201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latin typeface="Century Gothic" panose="020B0502020202020204" pitchFamily="34" charset="0"/>
              </a:rPr>
              <a:t>Syntaxe du Pipeline</a:t>
            </a:r>
            <a:endParaRPr lang="fr-FR" sz="2200" b="1" dirty="0">
              <a:latin typeface="Century Gothic" panose="020B0502020202020204" pitchFamily="34" charset="0"/>
            </a:endParaRPr>
          </a:p>
          <a:p>
            <a:pPr algn="just"/>
            <a:endParaRPr lang="fr-FR" sz="2200" b="1" i="1" dirty="0">
              <a:latin typeface="Century Gothic" panose="020B0502020202020204" pitchFamily="34" charset="0"/>
            </a:endParaRPr>
          </a:p>
          <a:p>
            <a:pPr algn="just"/>
            <a:r>
              <a:rPr lang="fr-FR" sz="2200" b="1" dirty="0">
                <a:latin typeface="Century Gothic" panose="020B0502020202020204" pitchFamily="34" charset="0"/>
              </a:rPr>
              <a:t>		Scriptée						Déclarative</a:t>
            </a:r>
          </a:p>
          <a:p>
            <a:pPr algn="just"/>
            <a:r>
              <a:rPr lang="fr-FR" sz="2200" b="1" dirty="0">
                <a:latin typeface="Century Gothic" panose="020B0502020202020204" pitchFamily="34" charset="0"/>
              </a:rPr>
              <a:t>	</a:t>
            </a:r>
            <a:r>
              <a:rPr lang="fr-FR" sz="2200" dirty="0">
                <a:latin typeface="Century Gothic" panose="020B0502020202020204" pitchFamily="34" charset="0"/>
              </a:rPr>
              <a:t>*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dirty="0">
                <a:latin typeface="Century Gothic" panose="020B0502020202020204" pitchFamily="34" charset="0"/>
              </a:rPr>
              <a:t>Syntaxe de base					* Ajout récent</a:t>
            </a: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	* Groovy engine					* Structure prédéfinie</a:t>
            </a: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	* Scripting avancé et flexible			* Limité, pas très puissant</a:t>
            </a: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	* Longue Courbe d’apprentissage		* Facile à apprendre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CEADC5-C8A5-40E9-BCF9-2E59C9FAA2DF}"/>
              </a:ext>
            </a:extLst>
          </p:cNvPr>
          <p:cNvSpPr txBox="1"/>
          <p:nvPr/>
        </p:nvSpPr>
        <p:spPr>
          <a:xfrm flipH="1">
            <a:off x="1661866" y="4033284"/>
            <a:ext cx="2885678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//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groovy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script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DE46F5E-1202-43B3-A33E-027DDF3179A9}"/>
              </a:ext>
            </a:extLst>
          </p:cNvPr>
          <p:cNvSpPr txBox="1"/>
          <p:nvPr/>
        </p:nvSpPr>
        <p:spPr>
          <a:xfrm flipH="1">
            <a:off x="7644455" y="3767466"/>
            <a:ext cx="3158223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FR" b="1">
                <a:latin typeface="Courier New" panose="02070309020205020404" pitchFamily="49" charset="0"/>
                <a:cs typeface="Courier New" panose="02070309020205020404" pitchFamily="49" charset="0"/>
              </a:rPr>
              <a:t>ipeline 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agent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stages {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stage("build"){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steps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} 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8875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4804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780098"/>
            <a:ext cx="11820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Le générateur de snippets permet de faire des configurations en mode UI, pour générer par la suite le code correspondant.</a:t>
            </a:r>
            <a:endParaRPr lang="fr-FR" sz="2200" b="1" i="1" dirty="0">
              <a:latin typeface="Century Gothic" panose="020B0502020202020204" pitchFamily="34" charset="0"/>
            </a:endParaRP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0D7746D-19E1-4541-AAB4-5DA1B2DE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53" y="2005357"/>
            <a:ext cx="8891494" cy="4189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8351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780098"/>
            <a:ext cx="1182012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Choisir </a:t>
            </a:r>
            <a:r>
              <a:rPr lang="fr-FR" sz="2200" b="1" dirty="0">
                <a:latin typeface="Century Gothic" panose="020B0502020202020204" pitchFamily="34" charset="0"/>
              </a:rPr>
              <a:t>git</a:t>
            </a:r>
            <a:r>
              <a:rPr lang="fr-FR" sz="2200" dirty="0">
                <a:latin typeface="Century Gothic" panose="020B0502020202020204" pitchFamily="34" charset="0"/>
              </a:rPr>
              <a:t> au niveau de la liste </a:t>
            </a:r>
            <a:r>
              <a:rPr lang="fr-FR" sz="2200" b="1" dirty="0" err="1">
                <a:latin typeface="Century Gothic" panose="020B0502020202020204" pitchFamily="34" charset="0"/>
              </a:rPr>
              <a:t>Sample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b="1" dirty="0" err="1">
                <a:latin typeface="Century Gothic" panose="020B0502020202020204" pitchFamily="34" charset="0"/>
              </a:rPr>
              <a:t>Step</a:t>
            </a:r>
            <a:endParaRPr lang="fr-FR" sz="2200" b="1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Ajouter </a:t>
            </a:r>
            <a:r>
              <a:rPr lang="fr-FR" sz="2200" b="1" dirty="0">
                <a:latin typeface="Century Gothic" panose="020B0502020202020204" pitchFamily="34" charset="0"/>
              </a:rPr>
              <a:t>l’URL du répertoire</a:t>
            </a:r>
            <a:r>
              <a:rPr lang="fr-FR" sz="2200" dirty="0">
                <a:latin typeface="Century Gothic" panose="020B0502020202020204" pitchFamily="34" charset="0"/>
              </a:rPr>
              <a:t> GitHub (la branche </a:t>
            </a:r>
            <a:r>
              <a:rPr lang="fr-FR" sz="2200" b="1" dirty="0">
                <a:latin typeface="Century Gothic" panose="020B0502020202020204" pitchFamily="34" charset="0"/>
              </a:rPr>
              <a:t>master</a:t>
            </a:r>
            <a:r>
              <a:rPr lang="fr-FR" sz="2200" dirty="0">
                <a:latin typeface="Century Gothic" panose="020B0502020202020204" pitchFamily="34" charset="0"/>
              </a:rPr>
              <a:t>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b="1" dirty="0">
                <a:latin typeface="Century Gothic" panose="020B0502020202020204" pitchFamily="34" charset="0"/>
              </a:rPr>
              <a:t>Optionnel : </a:t>
            </a:r>
            <a:r>
              <a:rPr lang="fr-FR" sz="2200" dirty="0">
                <a:latin typeface="Century Gothic" panose="020B0502020202020204" pitchFamily="34" charset="0"/>
              </a:rPr>
              <a:t>Dans le cas où le répertoire GitHub utilisé est privé, il faudra ajouter des coordonnées d’authentification. Pour cela, cliquer sur le bouton </a:t>
            </a:r>
            <a:r>
              <a:rPr lang="fr-FR" sz="2200" b="1" dirty="0" err="1">
                <a:latin typeface="Century Gothic" panose="020B0502020202020204" pitchFamily="34" charset="0"/>
              </a:rPr>
              <a:t>Add</a:t>
            </a:r>
            <a:r>
              <a:rPr lang="fr-FR" sz="2200" dirty="0"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33B95EF8-FCA4-4925-8D69-36AFCCB20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925" y="2526352"/>
            <a:ext cx="9074150" cy="3968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D716FF0-FBD4-4AB7-8957-975B23E32EBC}"/>
              </a:ext>
            </a:extLst>
          </p:cNvPr>
          <p:cNvSpPr txBox="1"/>
          <p:nvPr/>
        </p:nvSpPr>
        <p:spPr>
          <a:xfrm>
            <a:off x="128722" y="100997"/>
            <a:ext cx="4804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</p:spTree>
    <p:extLst>
      <p:ext uri="{BB962C8B-B14F-4D97-AF65-F5344CB8AC3E}">
        <p14:creationId xmlns:p14="http://schemas.microsoft.com/office/powerpoint/2010/main" val="2236154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780098"/>
            <a:ext cx="1182012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La fenêtre suivante va s’ouvrir pour permettre de préciser les coordonnées d’authentification (</a:t>
            </a:r>
            <a:r>
              <a:rPr lang="fr-FR" sz="2200" dirty="0" err="1">
                <a:latin typeface="Century Gothic" panose="020B0502020202020204" pitchFamily="34" charset="0"/>
              </a:rPr>
              <a:t>Username</a:t>
            </a:r>
            <a:r>
              <a:rPr lang="fr-FR" sz="2200" dirty="0">
                <a:latin typeface="Century Gothic" panose="020B0502020202020204" pitchFamily="34" charset="0"/>
              </a:rPr>
              <a:t> &amp; </a:t>
            </a:r>
            <a:r>
              <a:rPr lang="fr-FR" sz="2200" dirty="0" err="1">
                <a:latin typeface="Century Gothic" panose="020B0502020202020204" pitchFamily="34" charset="0"/>
              </a:rPr>
              <a:t>Password</a:t>
            </a:r>
            <a:r>
              <a:rPr lang="fr-FR" sz="2200" dirty="0">
                <a:latin typeface="Century Gothic" panose="020B0502020202020204" pitchFamily="34" charset="0"/>
              </a:rPr>
              <a:t>) de GitHub.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2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Un ID ("git-</a:t>
            </a:r>
            <a:r>
              <a:rPr lang="fr-FR" sz="2200" dirty="0" err="1">
                <a:latin typeface="Century Gothic" panose="020B0502020202020204" pitchFamily="34" charset="0"/>
              </a:rPr>
              <a:t>credentials</a:t>
            </a:r>
            <a:r>
              <a:rPr lang="fr-FR" sz="2200" dirty="0">
                <a:latin typeface="Century Gothic" panose="020B0502020202020204" pitchFamily="34" charset="0"/>
              </a:rPr>
              <a:t>" pour notre cas) doit être associé à cette configuration pour une utilisation ultérieure. 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9452ADC1-82C5-4EAA-A983-C4E62959C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75" y="2740546"/>
            <a:ext cx="890905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F85412-70E2-4F2E-95BF-2DD1681DBAA7}"/>
              </a:ext>
            </a:extLst>
          </p:cNvPr>
          <p:cNvSpPr txBox="1"/>
          <p:nvPr/>
        </p:nvSpPr>
        <p:spPr>
          <a:xfrm>
            <a:off x="128722" y="100997"/>
            <a:ext cx="4804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</p:spTree>
    <p:extLst>
      <p:ext uri="{BB962C8B-B14F-4D97-AF65-F5344CB8AC3E}">
        <p14:creationId xmlns:p14="http://schemas.microsoft.com/office/powerpoint/2010/main" val="780472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1024649"/>
            <a:ext cx="11820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La configuration complétée, il est possible de générer maintenant le script lui correspondant.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E4836D4-9E21-4BC9-AAB1-DFB605E5A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47" y="2308060"/>
            <a:ext cx="6911975" cy="30267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83F6A5-F8F0-429A-854B-D964107CD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99" y="4606065"/>
            <a:ext cx="8646781" cy="1708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DB5C200-6F41-4920-BD26-69F68E92A59E}"/>
              </a:ext>
            </a:extLst>
          </p:cNvPr>
          <p:cNvSpPr txBox="1"/>
          <p:nvPr/>
        </p:nvSpPr>
        <p:spPr>
          <a:xfrm>
            <a:off x="7410892" y="3190031"/>
            <a:ext cx="47598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latin typeface="Century Gothic" panose="020B0502020202020204" pitchFamily="34" charset="0"/>
              </a:rPr>
              <a:t>git: </a:t>
            </a:r>
            <a:r>
              <a:rPr lang="fr-FR" dirty="0">
                <a:latin typeface="Century Gothic" panose="020B0502020202020204" pitchFamily="34" charset="0"/>
              </a:rPr>
              <a:t>fonction</a:t>
            </a:r>
          </a:p>
          <a:p>
            <a:pPr algn="just"/>
            <a:r>
              <a:rPr lang="fr-FR" b="1" dirty="0">
                <a:latin typeface="Century Gothic" panose="020B0502020202020204" pitchFamily="34" charset="0"/>
              </a:rPr>
              <a:t>git-</a:t>
            </a:r>
            <a:r>
              <a:rPr lang="fr-FR" b="1" dirty="0" err="1">
                <a:latin typeface="Century Gothic" panose="020B0502020202020204" pitchFamily="34" charset="0"/>
              </a:rPr>
              <a:t>credentials</a:t>
            </a:r>
            <a:r>
              <a:rPr lang="fr-FR" b="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paramètre de la fonction</a:t>
            </a:r>
          </a:p>
          <a:p>
            <a:pPr algn="just"/>
            <a:r>
              <a:rPr lang="fr-FR" b="1" dirty="0">
                <a:latin typeface="Century Gothic" panose="020B0502020202020204" pitchFamily="34" charset="0"/>
              </a:rPr>
              <a:t>url :</a:t>
            </a:r>
            <a:r>
              <a:rPr lang="fr-FR" dirty="0">
                <a:latin typeface="Century Gothic" panose="020B0502020202020204" pitchFamily="34" charset="0"/>
              </a:rPr>
              <a:t> paramètre de la fonction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D213FBE-3299-48FC-8E8A-7FAFDC94EC82}"/>
              </a:ext>
            </a:extLst>
          </p:cNvPr>
          <p:cNvSpPr txBox="1"/>
          <p:nvPr/>
        </p:nvSpPr>
        <p:spPr>
          <a:xfrm>
            <a:off x="128722" y="100997"/>
            <a:ext cx="4804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</p:spTree>
    <p:extLst>
      <p:ext uri="{BB962C8B-B14F-4D97-AF65-F5344CB8AC3E}">
        <p14:creationId xmlns:p14="http://schemas.microsoft.com/office/powerpoint/2010/main" val="3683461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2" y="100997"/>
            <a:ext cx="8217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Création du pipeline sur Jenkins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918319"/>
            <a:ext cx="118201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intègre le script généré au Pipeline script puis on sauvegarde.</a:t>
            </a:r>
          </a:p>
          <a:p>
            <a:pPr algn="just"/>
            <a:endParaRPr lang="fr-FR" sz="2200" dirty="0">
              <a:latin typeface="Century Gothic" panose="020B0502020202020204" pitchFamily="34" charset="0"/>
            </a:endParaRP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2361B9A1-C687-435F-87D7-ACA78176B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533" y="1715383"/>
            <a:ext cx="8064500" cy="472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4376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100997"/>
            <a:ext cx="971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premier build du pipeline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13129"/>
            <a:ext cx="112227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Redirigé vers la page du projet, cliquer sur </a:t>
            </a:r>
            <a:r>
              <a:rPr lang="fr-FR" sz="2200" b="1" dirty="0">
                <a:latin typeface="Century Gothic" panose="020B0502020202020204" pitchFamily="34" charset="0"/>
              </a:rPr>
              <a:t>Build </a:t>
            </a:r>
            <a:r>
              <a:rPr lang="fr-FR" sz="2200" b="1" dirty="0" err="1">
                <a:latin typeface="Century Gothic" panose="020B0502020202020204" pitchFamily="34" charset="0"/>
              </a:rPr>
              <a:t>Now</a:t>
            </a:r>
            <a:r>
              <a:rPr lang="fr-FR" sz="2200" dirty="0">
                <a:latin typeface="Century Gothic" panose="020B0502020202020204" pitchFamily="34" charset="0"/>
              </a:rPr>
              <a:t> pour lancer le premier Build.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C540460-DF66-45F9-B785-29673E517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57" y="1709027"/>
            <a:ext cx="9632686" cy="4606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616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13129"/>
            <a:ext cx="112227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En cliquant sur la petite bulle à gauche, on peut afficher la </a:t>
            </a:r>
            <a:r>
              <a:rPr lang="fr-FR" sz="2200" b="1" dirty="0">
                <a:latin typeface="Century Gothic" panose="020B0502020202020204" pitchFamily="34" charset="0"/>
              </a:rPr>
              <a:t>sortie console</a:t>
            </a:r>
            <a:r>
              <a:rPr lang="fr-FR" sz="2200" dirty="0">
                <a:latin typeface="Century Gothic" panose="020B0502020202020204" pitchFamily="34" charset="0"/>
              </a:rPr>
              <a:t> de l’exécution du build.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8BDADA83-5DFF-4C92-A704-448A8F65C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257" y="1446025"/>
            <a:ext cx="8877817" cy="5204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2FA98E9-469E-4BE7-9C07-3F0E25EC96CE}"/>
              </a:ext>
            </a:extLst>
          </p:cNvPr>
          <p:cNvSpPr txBox="1"/>
          <p:nvPr/>
        </p:nvSpPr>
        <p:spPr>
          <a:xfrm>
            <a:off x="128721" y="100997"/>
            <a:ext cx="971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premier build du pipeline</a:t>
            </a:r>
          </a:p>
        </p:txBody>
      </p:sp>
    </p:spTree>
    <p:extLst>
      <p:ext uri="{BB962C8B-B14F-4D97-AF65-F5344CB8AC3E}">
        <p14:creationId xmlns:p14="http://schemas.microsoft.com/office/powerpoint/2010/main" val="2081309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b. Build the application (MVN package)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6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100997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13129"/>
            <a:ext cx="112227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Durant cette partie, nous allons utiliser le générateur de snippets pour générer un </a:t>
            </a:r>
            <a:r>
              <a:rPr lang="fr-FR" sz="2200" b="1" dirty="0">
                <a:latin typeface="Century Gothic" panose="020B0502020202020204" pitchFamily="34" charset="0"/>
              </a:rPr>
              <a:t>script </a:t>
            </a:r>
            <a:r>
              <a:rPr lang="fr-FR" sz="2200" b="1" dirty="0" err="1">
                <a:latin typeface="Century Gothic" panose="020B0502020202020204" pitchFamily="34" charset="0"/>
              </a:rPr>
              <a:t>shell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dirty="0">
                <a:latin typeface="Century Gothic" panose="020B0502020202020204" pitchFamily="34" charset="0"/>
              </a:rPr>
              <a:t>exécutant une commande </a:t>
            </a:r>
            <a:r>
              <a:rPr lang="fr-FR" sz="2200" b="1" dirty="0">
                <a:latin typeface="Century Gothic" panose="020B0502020202020204" pitchFamily="34" charset="0"/>
              </a:rPr>
              <a:t>Maven</a:t>
            </a:r>
            <a:r>
              <a:rPr lang="fr-FR" sz="2200" dirty="0">
                <a:latin typeface="Century Gothic" panose="020B0502020202020204" pitchFamily="34" charset="0"/>
              </a:rPr>
              <a:t> (Java Build Tool).</a:t>
            </a:r>
          </a:p>
        </p:txBody>
      </p:sp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42EF4D95-7985-4B33-99D3-DFAA03771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575" y="1951905"/>
            <a:ext cx="9340850" cy="4019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1411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1055757"/>
            <a:ext cx="76715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intègre le </a:t>
            </a:r>
            <a:r>
              <a:rPr lang="fr-FR" sz="2200" b="1" dirty="0">
                <a:latin typeface="Century Gothic" panose="020B0502020202020204" pitchFamily="34" charset="0"/>
              </a:rPr>
              <a:t>script </a:t>
            </a:r>
            <a:r>
              <a:rPr lang="fr-FR" sz="2200" b="1" dirty="0" err="1">
                <a:latin typeface="Century Gothic" panose="020B0502020202020204" pitchFamily="34" charset="0"/>
              </a:rPr>
              <a:t>shell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dirty="0">
                <a:latin typeface="Century Gothic" panose="020B0502020202020204" pitchFamily="34" charset="0"/>
              </a:rPr>
              <a:t>au niveau du </a:t>
            </a:r>
            <a:r>
              <a:rPr lang="fr-FR" sz="2200" b="1" dirty="0">
                <a:latin typeface="Century Gothic" panose="020B0502020202020204" pitchFamily="34" charset="0"/>
              </a:rPr>
              <a:t>Pipeline script.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E2BAF5-7DD5-4FB6-ADFA-D48837F7A295}"/>
              </a:ext>
            </a:extLst>
          </p:cNvPr>
          <p:cNvSpPr txBox="1"/>
          <p:nvPr/>
        </p:nvSpPr>
        <p:spPr>
          <a:xfrm>
            <a:off x="128722" y="100997"/>
            <a:ext cx="9057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5EE2457-68C3-4790-80A2-5E7230786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29" y="2164406"/>
            <a:ext cx="8040541" cy="37804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1790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1023858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Après exécution du pipeline, une erreur </a:t>
            </a:r>
            <a:r>
              <a:rPr lang="fr-FR" sz="2200" b="1" dirty="0">
                <a:latin typeface="Century Gothic" panose="020B0502020202020204" pitchFamily="34" charset="0"/>
              </a:rPr>
              <a:t>"</a:t>
            </a:r>
            <a:r>
              <a:rPr lang="fr-FR" sz="2200" b="1" dirty="0" err="1">
                <a:latin typeface="Century Gothic" panose="020B0502020202020204" pitchFamily="34" charset="0"/>
              </a:rPr>
              <a:t>mvn</a:t>
            </a:r>
            <a:r>
              <a:rPr lang="fr-FR" sz="2200" b="1" dirty="0">
                <a:latin typeface="Century Gothic" panose="020B0502020202020204" pitchFamily="34" charset="0"/>
              </a:rPr>
              <a:t> : not </a:t>
            </a:r>
            <a:r>
              <a:rPr lang="fr-FR" sz="2200" b="1" dirty="0" err="1">
                <a:latin typeface="Century Gothic" panose="020B0502020202020204" pitchFamily="34" charset="0"/>
              </a:rPr>
              <a:t>found</a:t>
            </a:r>
            <a:r>
              <a:rPr lang="fr-FR" sz="2200" b="1" dirty="0">
                <a:latin typeface="Century Gothic" panose="020B0502020202020204" pitchFamily="34" charset="0"/>
              </a:rPr>
              <a:t>"</a:t>
            </a:r>
            <a:r>
              <a:rPr lang="fr-FR" sz="2200" dirty="0">
                <a:latin typeface="Century Gothic" panose="020B0502020202020204" pitchFamily="34" charset="0"/>
              </a:rPr>
              <a:t> apparaîtra : 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5918236-9464-4B7E-9C22-69ADF3853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52" y="1640400"/>
            <a:ext cx="10434896" cy="4756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</p:spTree>
    <p:extLst>
      <p:ext uri="{BB962C8B-B14F-4D97-AF65-F5344CB8AC3E}">
        <p14:creationId xmlns:p14="http://schemas.microsoft.com/office/powerpoint/2010/main" val="3319328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832470"/>
            <a:ext cx="1177974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Pour régler ce problème, nous allons se diriger vers :</a:t>
            </a:r>
          </a:p>
          <a:p>
            <a:pPr algn="ctr"/>
            <a:r>
              <a:rPr lang="fr-FR" sz="2200" b="1" dirty="0">
                <a:latin typeface="Century Gothic" panose="020B0502020202020204" pitchFamily="34" charset="0"/>
              </a:rPr>
              <a:t>Dashboard =&gt; Manage Jenkins =&gt; Global Tool Configuration =&gt; Maven</a:t>
            </a:r>
          </a:p>
          <a:p>
            <a:endParaRPr lang="fr-FR" sz="2200" dirty="0">
              <a:latin typeface="Century Gothic" panose="020B0502020202020204" pitchFamily="34" charset="0"/>
            </a:endParaRPr>
          </a:p>
          <a:p>
            <a:r>
              <a:rPr lang="fr-FR" sz="2200" dirty="0">
                <a:latin typeface="Century Gothic" panose="020B0502020202020204" pitchFamily="34" charset="0"/>
              </a:rPr>
              <a:t>Cliquer sur </a:t>
            </a:r>
            <a:r>
              <a:rPr lang="fr-FR" sz="2200" b="1" dirty="0" err="1">
                <a:latin typeface="Century Gothic" panose="020B0502020202020204" pitchFamily="34" charset="0"/>
              </a:rPr>
              <a:t>Add</a:t>
            </a:r>
            <a:r>
              <a:rPr lang="fr-FR" sz="2200" b="1" dirty="0">
                <a:latin typeface="Century Gothic" panose="020B0502020202020204" pitchFamily="34" charset="0"/>
              </a:rPr>
              <a:t> Maven</a:t>
            </a:r>
            <a:r>
              <a:rPr lang="fr-FR" sz="2200" dirty="0">
                <a:latin typeface="Century Gothic" panose="020B0502020202020204" pitchFamily="34" charset="0"/>
              </a:rPr>
              <a:t>, choisir </a:t>
            </a:r>
            <a:r>
              <a:rPr lang="fr-FR" sz="2200" b="1" dirty="0">
                <a:latin typeface="Century Gothic" panose="020B0502020202020204" pitchFamily="34" charset="0"/>
              </a:rPr>
              <a:t>un nom</a:t>
            </a:r>
            <a:r>
              <a:rPr lang="fr-FR" sz="2200" dirty="0">
                <a:latin typeface="Century Gothic" panose="020B0502020202020204" pitchFamily="34" charset="0"/>
              </a:rPr>
              <a:t>, cocher </a:t>
            </a:r>
            <a:r>
              <a:rPr lang="fr-FR" sz="2200" b="1" dirty="0">
                <a:latin typeface="Century Gothic" panose="020B0502020202020204" pitchFamily="34" charset="0"/>
              </a:rPr>
              <a:t>Install </a:t>
            </a:r>
            <a:r>
              <a:rPr lang="fr-FR" sz="2200" b="1" dirty="0" err="1">
                <a:latin typeface="Century Gothic" panose="020B0502020202020204" pitchFamily="34" charset="0"/>
              </a:rPr>
              <a:t>automatically</a:t>
            </a:r>
            <a:r>
              <a:rPr lang="fr-FR" sz="2200" dirty="0">
                <a:latin typeface="Century Gothic" panose="020B0502020202020204" pitchFamily="34" charset="0"/>
              </a:rPr>
              <a:t> puis sauvegarder.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17C57962-5D2F-44C6-851F-D1A821F90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2384210"/>
            <a:ext cx="9315450" cy="4279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9625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100997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13129"/>
            <a:ext cx="112227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En revenant vers le générateur de snippets, on choisit comme </a:t>
            </a:r>
            <a:r>
              <a:rPr lang="fr-FR" sz="2200" b="1" dirty="0" err="1">
                <a:latin typeface="Century Gothic" panose="020B0502020202020204" pitchFamily="34" charset="0"/>
              </a:rPr>
              <a:t>Sample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b="1" dirty="0" err="1">
                <a:latin typeface="Century Gothic" panose="020B0502020202020204" pitchFamily="34" charset="0"/>
              </a:rPr>
              <a:t>Step</a:t>
            </a:r>
            <a:r>
              <a:rPr lang="fr-FR" sz="2200" dirty="0">
                <a:latin typeface="Century Gothic" panose="020B0502020202020204" pitchFamily="34" charset="0"/>
              </a:rPr>
              <a:t> :</a:t>
            </a:r>
          </a:p>
          <a:p>
            <a:pPr algn="ctr"/>
            <a:r>
              <a:rPr lang="fr-FR" sz="2200" b="1" dirty="0" err="1">
                <a:latin typeface="Century Gothic" panose="020B0502020202020204" pitchFamily="34" charset="0"/>
              </a:rPr>
              <a:t>tool</a:t>
            </a:r>
            <a:r>
              <a:rPr lang="fr-FR" sz="2200" b="1" dirty="0">
                <a:latin typeface="Century Gothic" panose="020B0502020202020204" pitchFamily="34" charset="0"/>
              </a:rPr>
              <a:t> : Use a </a:t>
            </a:r>
            <a:r>
              <a:rPr lang="fr-FR" sz="2200" b="1" dirty="0" err="1">
                <a:latin typeface="Century Gothic" panose="020B0502020202020204" pitchFamily="34" charset="0"/>
              </a:rPr>
              <a:t>tool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b="1" dirty="0" err="1">
                <a:latin typeface="Century Gothic" panose="020B0502020202020204" pitchFamily="34" charset="0"/>
              </a:rPr>
              <a:t>from</a:t>
            </a:r>
            <a:r>
              <a:rPr lang="fr-FR" sz="2200" b="1" dirty="0">
                <a:latin typeface="Century Gothic" panose="020B0502020202020204" pitchFamily="34" charset="0"/>
              </a:rPr>
              <a:t> a </a:t>
            </a:r>
            <a:r>
              <a:rPr lang="fr-FR" sz="2200" b="1" dirty="0" err="1">
                <a:latin typeface="Century Gothic" panose="020B0502020202020204" pitchFamily="34" charset="0"/>
              </a:rPr>
              <a:t>predefined</a:t>
            </a:r>
            <a:r>
              <a:rPr lang="fr-FR" sz="2200" b="1" dirty="0">
                <a:latin typeface="Century Gothic" panose="020B0502020202020204" pitchFamily="34" charset="0"/>
              </a:rPr>
              <a:t> Tool Installation</a:t>
            </a:r>
            <a:r>
              <a:rPr lang="fr-FR" sz="2200" dirty="0">
                <a:latin typeface="Century Gothic" panose="020B0502020202020204" pitchFamily="34" charset="0"/>
              </a:rPr>
              <a:t> </a:t>
            </a:r>
          </a:p>
          <a:p>
            <a:pPr algn="just"/>
            <a:endParaRPr lang="fr-FR" sz="2200" dirty="0">
              <a:latin typeface="Century Gothic" panose="020B0502020202020204" pitchFamily="34" charset="0"/>
            </a:endParaRPr>
          </a:p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choisit comme outil </a:t>
            </a:r>
            <a:r>
              <a:rPr lang="fr-FR" sz="2200" b="1" dirty="0">
                <a:latin typeface="Century Gothic" panose="020B0502020202020204" pitchFamily="34" charset="0"/>
              </a:rPr>
              <a:t>Maven</a:t>
            </a:r>
            <a:r>
              <a:rPr lang="fr-FR" sz="2200" dirty="0">
                <a:latin typeface="Century Gothic" panose="020B0502020202020204" pitchFamily="34" charset="0"/>
              </a:rPr>
              <a:t>, puis on génère le script.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CDA34B5-F59D-4565-8E0C-81F3BB4C2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2689816"/>
            <a:ext cx="9372600" cy="3562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0947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2" y="1055757"/>
            <a:ext cx="76715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intègre le </a:t>
            </a:r>
            <a:r>
              <a:rPr lang="fr-FR" sz="2200" b="1" dirty="0">
                <a:latin typeface="Century Gothic" panose="020B0502020202020204" pitchFamily="34" charset="0"/>
              </a:rPr>
              <a:t>script </a:t>
            </a:r>
            <a:r>
              <a:rPr lang="fr-FR" sz="2200" b="1" dirty="0" err="1">
                <a:latin typeface="Century Gothic" panose="020B0502020202020204" pitchFamily="34" charset="0"/>
              </a:rPr>
              <a:t>shell</a:t>
            </a:r>
            <a:r>
              <a:rPr lang="fr-FR" sz="2200" b="1" dirty="0">
                <a:latin typeface="Century Gothic" panose="020B0502020202020204" pitchFamily="34" charset="0"/>
              </a:rPr>
              <a:t> </a:t>
            </a:r>
            <a:r>
              <a:rPr lang="fr-FR" sz="2200" dirty="0">
                <a:latin typeface="Century Gothic" panose="020B0502020202020204" pitchFamily="34" charset="0"/>
              </a:rPr>
              <a:t>au niveau du </a:t>
            </a:r>
            <a:r>
              <a:rPr lang="fr-FR" sz="2200" b="1" dirty="0">
                <a:latin typeface="Century Gothic" panose="020B0502020202020204" pitchFamily="34" charset="0"/>
              </a:rPr>
              <a:t>Pipeline script.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E2BAF5-7DD5-4FB6-ADFA-D48837F7A295}"/>
              </a:ext>
            </a:extLst>
          </p:cNvPr>
          <p:cNvSpPr txBox="1"/>
          <p:nvPr/>
        </p:nvSpPr>
        <p:spPr>
          <a:xfrm>
            <a:off x="128722" y="100997"/>
            <a:ext cx="9057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883450B8-554F-4886-84C0-A8425BE8E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69" y="1562987"/>
            <a:ext cx="9071061" cy="5055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09380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1023858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Cette fois, le pipeline s’est bien exécuté.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E37B7F6-46EE-42F5-A4AA-8F4B138DF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371" y="1919519"/>
            <a:ext cx="8383908" cy="37556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81CD69D-E260-4DCC-B0DF-8BB306D1C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1" y="1926752"/>
            <a:ext cx="5580963" cy="37556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328FE18-FF41-4C8A-B046-DEFE82E73D0D}"/>
              </a:ext>
            </a:extLst>
          </p:cNvPr>
          <p:cNvSpPr/>
          <p:nvPr/>
        </p:nvSpPr>
        <p:spPr>
          <a:xfrm>
            <a:off x="6350616" y="3505200"/>
            <a:ext cx="3838413" cy="2068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B958B11-7AAA-4358-A3B9-781E130C1BA1}"/>
              </a:ext>
            </a:extLst>
          </p:cNvPr>
          <p:cNvSpPr/>
          <p:nvPr/>
        </p:nvSpPr>
        <p:spPr>
          <a:xfrm>
            <a:off x="5952119" y="5216068"/>
            <a:ext cx="982082" cy="2068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4DE2EE0-92C0-4983-A043-7B483BEECED8}"/>
              </a:ext>
            </a:extLst>
          </p:cNvPr>
          <p:cNvSpPr/>
          <p:nvPr/>
        </p:nvSpPr>
        <p:spPr>
          <a:xfrm>
            <a:off x="6328844" y="3888011"/>
            <a:ext cx="757756" cy="2068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1099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c. Build Docker Image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33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284"/>
            <a:ext cx="119435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ajoute un nouveau </a:t>
            </a:r>
            <a:r>
              <a:rPr lang="fr-FR" sz="2200" b="1" dirty="0">
                <a:latin typeface="Century Gothic" panose="020B0502020202020204" pitchFamily="34" charset="0"/>
              </a:rPr>
              <a:t>stage</a:t>
            </a:r>
            <a:r>
              <a:rPr lang="fr-FR" sz="2200" dirty="0">
                <a:latin typeface="Century Gothic" panose="020B0502020202020204" pitchFamily="34" charset="0"/>
              </a:rPr>
              <a:t> où on exécutera un script </a:t>
            </a:r>
            <a:r>
              <a:rPr lang="fr-FR" sz="2200" dirty="0" err="1">
                <a:latin typeface="Century Gothic" panose="020B0502020202020204" pitchFamily="34" charset="0"/>
              </a:rPr>
              <a:t>shell</a:t>
            </a:r>
            <a:r>
              <a:rPr lang="fr-FR" sz="2200" dirty="0">
                <a:latin typeface="Century Gothic" panose="020B0502020202020204" pitchFamily="34" charset="0"/>
              </a:rPr>
              <a:t> nous permettant de créer une image Docker à base du fichier Dockerfile (se trouvant au répertoire GitHub)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E2BAF5-7DD5-4FB6-ADFA-D48837F7A295}"/>
              </a:ext>
            </a:extLst>
          </p:cNvPr>
          <p:cNvSpPr txBox="1"/>
          <p:nvPr/>
        </p:nvSpPr>
        <p:spPr>
          <a:xfrm>
            <a:off x="128722" y="100997"/>
            <a:ext cx="9057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1183115B-BB36-4C7D-8654-7A1FD85B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0" y="1829486"/>
            <a:ext cx="7496629" cy="48514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8133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1023858"/>
            <a:ext cx="117797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Si les configurations « Jenkins/Docker » initiales ont été bien faites, l’exécution du script passera avec succès.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3CD083-7F0F-4693-B369-CEEC104D2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11" y="2008274"/>
            <a:ext cx="10803978" cy="4345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9626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d. Push the Image to Docker Hub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11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760730"/>
            <a:ext cx="115379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Afin de gérer les coordonnées d’authentification à Docker Hub, on utilisera le générateur de snippets =&gt; </a:t>
            </a:r>
            <a:r>
              <a:rPr lang="fr-FR" sz="2000" dirty="0" err="1">
                <a:latin typeface="Century Gothic" panose="020B0502020202020204" pitchFamily="34" charset="0"/>
              </a:rPr>
              <a:t>Sample</a:t>
            </a:r>
            <a:r>
              <a:rPr lang="fr-FR" sz="2000" dirty="0">
                <a:latin typeface="Century Gothic" panose="020B0502020202020204" pitchFamily="34" charset="0"/>
              </a:rPr>
              <a:t> </a:t>
            </a:r>
            <a:r>
              <a:rPr lang="fr-FR" sz="2000" dirty="0" err="1">
                <a:latin typeface="Century Gothic" panose="020B0502020202020204" pitchFamily="34" charset="0"/>
              </a:rPr>
              <a:t>Step</a:t>
            </a:r>
            <a:r>
              <a:rPr lang="fr-FR" sz="2000" dirty="0">
                <a:latin typeface="Century Gothic" panose="020B0502020202020204" pitchFamily="34" charset="0"/>
              </a:rPr>
              <a:t> = </a:t>
            </a:r>
            <a:r>
              <a:rPr lang="fr-FR" sz="2000" b="1" dirty="0" err="1">
                <a:latin typeface="Century Gothic" panose="020B0502020202020204" pitchFamily="34" charset="0"/>
              </a:rPr>
              <a:t>withCredentials</a:t>
            </a:r>
            <a:r>
              <a:rPr lang="fr-FR" sz="2000" b="1" dirty="0">
                <a:latin typeface="Century Gothic" panose="020B0502020202020204" pitchFamily="34" charset="0"/>
              </a:rPr>
              <a:t>: </a:t>
            </a:r>
            <a:r>
              <a:rPr lang="fr-FR" sz="2000" b="1" dirty="0" err="1">
                <a:latin typeface="Century Gothic" panose="020B0502020202020204" pitchFamily="34" charset="0"/>
              </a:rPr>
              <a:t>Bind</a:t>
            </a:r>
            <a:r>
              <a:rPr lang="fr-FR" sz="2000" b="1" dirty="0">
                <a:latin typeface="Century Gothic" panose="020B0502020202020204" pitchFamily="34" charset="0"/>
              </a:rPr>
              <a:t> </a:t>
            </a:r>
            <a:r>
              <a:rPr lang="fr-FR" sz="2000" b="1" dirty="0" err="1">
                <a:latin typeface="Century Gothic" panose="020B0502020202020204" pitchFamily="34" charset="0"/>
              </a:rPr>
              <a:t>credentials</a:t>
            </a:r>
            <a:r>
              <a:rPr lang="fr-FR" sz="2000" b="1" dirty="0">
                <a:latin typeface="Century Gothic" panose="020B0502020202020204" pitchFamily="34" charset="0"/>
              </a:rPr>
              <a:t> to variables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Puis cliquer sur </a:t>
            </a:r>
            <a:r>
              <a:rPr lang="fr-FR" sz="2000" b="1" dirty="0" err="1">
                <a:latin typeface="Century Gothic" panose="020B0502020202020204" pitchFamily="34" charset="0"/>
              </a:rPr>
              <a:t>Add</a:t>
            </a:r>
            <a:r>
              <a:rPr lang="fr-FR" sz="2000" dirty="0">
                <a:latin typeface="Century Gothic" panose="020B0502020202020204" pitchFamily="34" charset="0"/>
              </a:rPr>
              <a:t> =&gt;</a:t>
            </a:r>
            <a:r>
              <a:rPr lang="fr-FR" sz="2000" b="1" dirty="0">
                <a:latin typeface="Century Gothic" panose="020B0502020202020204" pitchFamily="34" charset="0"/>
              </a:rPr>
              <a:t> Secret </a:t>
            </a:r>
            <a:r>
              <a:rPr lang="fr-FR" sz="2000" b="1" dirty="0" err="1">
                <a:latin typeface="Century Gothic" panose="020B0502020202020204" pitchFamily="34" charset="0"/>
              </a:rPr>
              <a:t>text</a:t>
            </a:r>
            <a:endParaRPr lang="fr-FR" sz="2000" b="1" dirty="0">
              <a:latin typeface="Century Gothic" panose="020B0502020202020204" pitchFamily="34" charset="0"/>
            </a:endParaRP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0484846-D2B3-4EF1-877E-13A334B9E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165350"/>
            <a:ext cx="8940800" cy="4508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788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826045"/>
            <a:ext cx="115379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La fenêtre suivante va s’ouvrir pour permettre d’associer le mot de passe de Docker Hub (le champ </a:t>
            </a:r>
            <a:r>
              <a:rPr lang="fr-FR" sz="2000" b="1" dirty="0">
                <a:latin typeface="Century Gothic" panose="020B0502020202020204" pitchFamily="34" charset="0"/>
              </a:rPr>
              <a:t>Secret</a:t>
            </a:r>
            <a:r>
              <a:rPr lang="fr-FR" sz="2000" dirty="0">
                <a:latin typeface="Century Gothic" panose="020B0502020202020204" pitchFamily="34" charset="0"/>
              </a:rPr>
              <a:t>) avec un fichier identifié par </a:t>
            </a:r>
            <a:r>
              <a:rPr lang="fr-FR" sz="2000" b="1" dirty="0">
                <a:latin typeface="Century Gothic" panose="020B0502020202020204" pitchFamily="34" charset="0"/>
              </a:rPr>
              <a:t>ID </a:t>
            </a:r>
            <a:r>
              <a:rPr lang="fr-FR" sz="2000" dirty="0">
                <a:latin typeface="Century Gothic" panose="020B0502020202020204" pitchFamily="34" charset="0"/>
              </a:rPr>
              <a:t>: docker-</a:t>
            </a:r>
            <a:r>
              <a:rPr lang="fr-FR" sz="2000" dirty="0" err="1">
                <a:latin typeface="Century Gothic" panose="020B0502020202020204" pitchFamily="34" charset="0"/>
              </a:rPr>
              <a:t>pwd</a:t>
            </a:r>
            <a:r>
              <a:rPr lang="fr-FR" sz="200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8759402-E9FB-4AEA-9051-38A90318F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198907"/>
            <a:ext cx="8877300" cy="3473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9071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826045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Le paramétrage des « </a:t>
            </a:r>
            <a:r>
              <a:rPr lang="fr-FR" sz="2000" dirty="0" err="1">
                <a:latin typeface="Century Gothic" panose="020B0502020202020204" pitchFamily="34" charset="0"/>
              </a:rPr>
              <a:t>credentials</a:t>
            </a:r>
            <a:r>
              <a:rPr lang="fr-FR" sz="2000" dirty="0">
                <a:latin typeface="Century Gothic" panose="020B0502020202020204" pitchFamily="34" charset="0"/>
              </a:rPr>
              <a:t> » fini, on pourra générer le script correspondant. 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2535A1A7-7621-40BF-90D2-0550D83E7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26" y="2164805"/>
            <a:ext cx="8991600" cy="3867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370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284"/>
            <a:ext cx="119435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ajoute un nouveau </a:t>
            </a:r>
            <a:r>
              <a:rPr lang="fr-FR" sz="2200" b="1" dirty="0">
                <a:latin typeface="Century Gothic" panose="020B0502020202020204" pitchFamily="34" charset="0"/>
              </a:rPr>
              <a:t>stage</a:t>
            </a:r>
            <a:r>
              <a:rPr lang="fr-FR" sz="2200" dirty="0">
                <a:latin typeface="Century Gothic" panose="020B0502020202020204" pitchFamily="34" charset="0"/>
              </a:rPr>
              <a:t> où on exécutera un script </a:t>
            </a:r>
            <a:r>
              <a:rPr lang="fr-FR" sz="2200" dirty="0" err="1">
                <a:latin typeface="Century Gothic" panose="020B0502020202020204" pitchFamily="34" charset="0"/>
              </a:rPr>
              <a:t>shell</a:t>
            </a:r>
            <a:r>
              <a:rPr lang="fr-FR" sz="2200" dirty="0">
                <a:latin typeface="Century Gothic" panose="020B0502020202020204" pitchFamily="34" charset="0"/>
              </a:rPr>
              <a:t> nous permettant de se connecter à Docker Hub, puis de publier l’image Docker déjà créée.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E2BAF5-7DD5-4FB6-ADFA-D48837F7A295}"/>
              </a:ext>
            </a:extLst>
          </p:cNvPr>
          <p:cNvSpPr txBox="1"/>
          <p:nvPr/>
        </p:nvSpPr>
        <p:spPr>
          <a:xfrm>
            <a:off x="128722" y="100997"/>
            <a:ext cx="9057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033DEB54-E1ED-415C-9733-2A5D33D05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475" y="1811126"/>
            <a:ext cx="8147050" cy="485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0169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885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L’exécution du script passera ce stage aussi avec succès.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F449719-A5D2-4B9A-ADED-3E19F940D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2" y="1717097"/>
            <a:ext cx="10544175" cy="4882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6011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885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L’image Docker a été bien ajoutée au Docker Hub.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93E156-3174-4F84-BB68-586ADF95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63" y="1650686"/>
            <a:ext cx="9786257" cy="45741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2216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e. Run the Container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75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284"/>
            <a:ext cx="119435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On ajoute un nouveau </a:t>
            </a:r>
            <a:r>
              <a:rPr lang="fr-FR" sz="2200" b="1" dirty="0">
                <a:latin typeface="Century Gothic" panose="020B0502020202020204" pitchFamily="34" charset="0"/>
              </a:rPr>
              <a:t>stage</a:t>
            </a:r>
            <a:r>
              <a:rPr lang="fr-FR" sz="2200" dirty="0">
                <a:latin typeface="Century Gothic" panose="020B0502020202020204" pitchFamily="34" charset="0"/>
              </a:rPr>
              <a:t> où on exécutera un script </a:t>
            </a:r>
            <a:r>
              <a:rPr lang="fr-FR" sz="2200" dirty="0" err="1">
                <a:latin typeface="Century Gothic" panose="020B0502020202020204" pitchFamily="34" charset="0"/>
              </a:rPr>
              <a:t>shell</a:t>
            </a:r>
            <a:r>
              <a:rPr lang="fr-FR" sz="2200" dirty="0">
                <a:latin typeface="Century Gothic" panose="020B0502020202020204" pitchFamily="34" charset="0"/>
              </a:rPr>
              <a:t> nous permettant d’instancier l’image Docker (créer un conteneur).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E2BAF5-7DD5-4FB6-ADFA-D48837F7A295}"/>
              </a:ext>
            </a:extLst>
          </p:cNvPr>
          <p:cNvSpPr txBox="1"/>
          <p:nvPr/>
        </p:nvSpPr>
        <p:spPr>
          <a:xfrm>
            <a:off x="128722" y="100997"/>
            <a:ext cx="9057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F4F9BB1-30D1-4E9A-B311-3ED17D0A1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868" y="1811126"/>
            <a:ext cx="8058150" cy="4857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1261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885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L’exécution du script passera ce dernier stage aussi avec succès.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A93F4105-8B65-4D78-AB7A-D22EA2FBC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2" y="1837453"/>
            <a:ext cx="10356396" cy="42150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386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885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Le conteneur a été créé avec succès.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4" name="Image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AC86ABB2-631C-4FA8-8609-C703C903D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202" y="1473774"/>
            <a:ext cx="9118600" cy="5054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6A74782-BF59-4B9F-B7D2-7FAC6C83A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1422086"/>
            <a:ext cx="11264900" cy="138430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94687B8-5CB5-41D8-A7BC-13CA75BF2D0A}"/>
              </a:ext>
            </a:extLst>
          </p:cNvPr>
          <p:cNvSpPr/>
          <p:nvPr/>
        </p:nvSpPr>
        <p:spPr>
          <a:xfrm>
            <a:off x="485321" y="2010821"/>
            <a:ext cx="1180193" cy="22075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18AD9ED-2096-4700-8ADC-51F3B892314C}"/>
              </a:ext>
            </a:extLst>
          </p:cNvPr>
          <p:cNvSpPr/>
          <p:nvPr/>
        </p:nvSpPr>
        <p:spPr>
          <a:xfrm>
            <a:off x="5702888" y="5236936"/>
            <a:ext cx="4192226" cy="22075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B87719F-4925-4D79-8CEC-6A7010269172}"/>
              </a:ext>
            </a:extLst>
          </p:cNvPr>
          <p:cNvSpPr/>
          <p:nvPr/>
        </p:nvSpPr>
        <p:spPr>
          <a:xfrm>
            <a:off x="5709684" y="6212708"/>
            <a:ext cx="1180193" cy="22075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47564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Bonus</a:t>
            </a:r>
            <a:endParaRPr lang="fr-FR" sz="3200" dirty="0">
              <a:solidFill>
                <a:srgbClr val="0070C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e. Run the Container (</a:t>
            </a:r>
            <a:r>
              <a:rPr lang="en-CA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on another server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)</a:t>
            </a: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354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6424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Rappel 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(configuration 2)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B3821D-C2DA-49D3-A896-CDFFCBA9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347787"/>
            <a:ext cx="8001000" cy="35245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420448E-D4D4-4744-A3C7-1DB9C238F43F}"/>
              </a:ext>
            </a:extLst>
          </p:cNvPr>
          <p:cNvSpPr txBox="1"/>
          <p:nvPr/>
        </p:nvSpPr>
        <p:spPr>
          <a:xfrm>
            <a:off x="434728" y="5160430"/>
            <a:ext cx="1132254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dirty="0">
                <a:latin typeface="Century Gothic" panose="020B0502020202020204" pitchFamily="34" charset="0"/>
              </a:rPr>
              <a:t>Au niveau de cette configuration, et pour exécuter le conteneur de l’application, il faudra procéder autrement.</a:t>
            </a:r>
          </a:p>
          <a:p>
            <a:pPr algn="ctr"/>
            <a:endParaRPr lang="fr-FR" sz="2200" dirty="0">
              <a:latin typeface="Century Gothic" panose="020B0502020202020204" pitchFamily="34" charset="0"/>
            </a:endParaRPr>
          </a:p>
          <a:p>
            <a:pPr algn="ctr"/>
            <a:r>
              <a:rPr lang="fr-FR" sz="2200" b="1" dirty="0">
                <a:latin typeface="Century Gothic" panose="020B0502020202020204" pitchFamily="34" charset="0"/>
              </a:rPr>
              <a:t>On va se connecter au serveur de déploiement via SSH.</a:t>
            </a:r>
          </a:p>
        </p:txBody>
      </p:sp>
    </p:spTree>
    <p:extLst>
      <p:ext uri="{BB962C8B-B14F-4D97-AF65-F5344CB8AC3E}">
        <p14:creationId xmlns:p14="http://schemas.microsoft.com/office/powerpoint/2010/main" val="1794270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6424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Rappel 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(configuration 2)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420448E-D4D4-4744-A3C7-1DB9C238F43F}"/>
              </a:ext>
            </a:extLst>
          </p:cNvPr>
          <p:cNvSpPr txBox="1"/>
          <p:nvPr/>
        </p:nvSpPr>
        <p:spPr>
          <a:xfrm>
            <a:off x="206830" y="1241572"/>
            <a:ext cx="115504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Dirigeons nous vers : </a:t>
            </a:r>
            <a:r>
              <a:rPr lang="fr-FR" sz="2200" b="1" dirty="0">
                <a:latin typeface="Century Gothic" panose="020B0502020202020204" pitchFamily="34" charset="0"/>
              </a:rPr>
              <a:t>Dashboard =&gt; Manage Jenkins =&gt; Manage Plugins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b="1" dirty="0">
              <a:latin typeface="Century Gothic" panose="020B0502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Century Gothic" panose="020B0502020202020204" pitchFamily="34" charset="0"/>
              </a:rPr>
              <a:t>Chercher </a:t>
            </a:r>
            <a:r>
              <a:rPr lang="fr-FR" sz="2200" b="1" dirty="0">
                <a:latin typeface="Century Gothic" panose="020B0502020202020204" pitchFamily="34" charset="0"/>
              </a:rPr>
              <a:t>SSH Agent </a:t>
            </a:r>
            <a:r>
              <a:rPr lang="fr-FR" sz="2200" dirty="0">
                <a:latin typeface="Century Gothic" panose="020B0502020202020204" pitchFamily="34" charset="0"/>
              </a:rPr>
              <a:t>dans l’onglet </a:t>
            </a:r>
            <a:r>
              <a:rPr lang="fr-FR" sz="2200" b="1" dirty="0" err="1">
                <a:latin typeface="Century Gothic" panose="020B0502020202020204" pitchFamily="34" charset="0"/>
              </a:rPr>
              <a:t>Available</a:t>
            </a:r>
            <a:r>
              <a:rPr lang="fr-FR" sz="2200" dirty="0">
                <a:latin typeface="Century Gothic" panose="020B0502020202020204" pitchFamily="34" charset="0"/>
              </a:rPr>
              <a:t>, puis cliquer sur </a:t>
            </a:r>
            <a:r>
              <a:rPr lang="fr-FR" sz="2200" b="1" dirty="0">
                <a:latin typeface="Century Gothic" panose="020B0502020202020204" pitchFamily="34" charset="0"/>
              </a:rPr>
              <a:t>Install </a:t>
            </a:r>
            <a:r>
              <a:rPr lang="fr-FR" sz="2200" b="1" dirty="0" err="1">
                <a:latin typeface="Century Gothic" panose="020B0502020202020204" pitchFamily="34" charset="0"/>
              </a:rPr>
              <a:t>without</a:t>
            </a:r>
            <a:r>
              <a:rPr lang="fr-FR" sz="2200" b="1" dirty="0">
                <a:latin typeface="Century Gothic" panose="020B0502020202020204" pitchFamily="34" charset="0"/>
              </a:rPr>
              <a:t> restart</a:t>
            </a:r>
            <a:endParaRPr lang="fr-FR" sz="2200" dirty="0">
              <a:latin typeface="Century Gothic" panose="020B0502020202020204" pitchFamily="34" charset="0"/>
            </a:endParaRP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7EBAEA0A-82A5-414E-BC42-6BB33FABB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224" y="2951842"/>
            <a:ext cx="9099550" cy="2413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54381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760730"/>
            <a:ext cx="115379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On utilisera le générateur de snippets</a:t>
            </a:r>
          </a:p>
          <a:p>
            <a:pPr algn="just"/>
            <a:r>
              <a:rPr lang="fr-FR" sz="2000" dirty="0">
                <a:latin typeface="Century Gothic" panose="020B0502020202020204" pitchFamily="34" charset="0"/>
              </a:rPr>
              <a:t>     </a:t>
            </a:r>
            <a:r>
              <a:rPr lang="fr-FR" sz="2000" dirty="0" err="1">
                <a:latin typeface="Century Gothic" panose="020B0502020202020204" pitchFamily="34" charset="0"/>
              </a:rPr>
              <a:t>Sample</a:t>
            </a:r>
            <a:r>
              <a:rPr lang="fr-FR" sz="2000" dirty="0">
                <a:latin typeface="Century Gothic" panose="020B0502020202020204" pitchFamily="34" charset="0"/>
              </a:rPr>
              <a:t> </a:t>
            </a:r>
            <a:r>
              <a:rPr lang="fr-FR" sz="2000" dirty="0" err="1">
                <a:latin typeface="Century Gothic" panose="020B0502020202020204" pitchFamily="34" charset="0"/>
              </a:rPr>
              <a:t>Step</a:t>
            </a:r>
            <a:r>
              <a:rPr lang="fr-FR" sz="2000" dirty="0">
                <a:latin typeface="Century Gothic" panose="020B0502020202020204" pitchFamily="34" charset="0"/>
              </a:rPr>
              <a:t> = </a:t>
            </a:r>
            <a:r>
              <a:rPr lang="fr-FR" sz="2000" b="1" dirty="0" err="1">
                <a:latin typeface="Century Gothic" panose="020B0502020202020204" pitchFamily="34" charset="0"/>
              </a:rPr>
              <a:t>sshagent</a:t>
            </a:r>
            <a:r>
              <a:rPr lang="fr-FR" sz="2000" b="1" dirty="0">
                <a:latin typeface="Century Gothic" panose="020B0502020202020204" pitchFamily="34" charset="0"/>
              </a:rPr>
              <a:t>: SSH Agent</a:t>
            </a:r>
            <a:r>
              <a:rPr lang="fr-FR" sz="2000" dirty="0">
                <a:latin typeface="Century Gothic" panose="020B0502020202020204" pitchFamily="34" charset="0"/>
              </a:rPr>
              <a:t>    </a:t>
            </a:r>
            <a:r>
              <a:rPr lang="fr-FR" i="1" dirty="0">
                <a:latin typeface="Century Gothic" panose="020B0502020202020204" pitchFamily="34" charset="0"/>
              </a:rPr>
              <a:t>(disponible après l’installation)</a:t>
            </a:r>
            <a:endParaRPr lang="fr-FR" sz="2000" i="1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fr-FR" sz="2000" dirty="0">
                <a:latin typeface="Century Gothic" panose="020B0502020202020204" pitchFamily="34" charset="0"/>
              </a:rPr>
              <a:t>On affiche la syntaxe globale à utiliser puis on va cliquer sur </a:t>
            </a:r>
            <a:r>
              <a:rPr lang="fr-FR" sz="2000" dirty="0" err="1">
                <a:latin typeface="Century Gothic" panose="020B0502020202020204" pitchFamily="34" charset="0"/>
              </a:rPr>
              <a:t>Add</a:t>
            </a:r>
            <a:r>
              <a:rPr lang="fr-FR" sz="2000" dirty="0">
                <a:latin typeface="Century Gothic" panose="020B0502020202020204" pitchFamily="34" charset="0"/>
              </a:rPr>
              <a:t>.</a:t>
            </a:r>
            <a:endParaRPr lang="fr-FR" sz="2000" b="1" dirty="0">
              <a:latin typeface="Century Gothic" panose="020B0502020202020204" pitchFamily="34" charset="0"/>
            </a:endParaRP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4681A44-F3C9-4A27-BF5C-AD9A84E8F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8" y="2260704"/>
            <a:ext cx="8324396" cy="4406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9445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4783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Snippet Generator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67558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La fenêtre suivante nous permettra de configurer nos coordonnées de connexion SSH</a:t>
            </a:r>
            <a:endParaRPr lang="fr-FR" sz="2000" b="1" dirty="0">
              <a:latin typeface="Century Gothic" panose="020B0502020202020204" pitchFamily="34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51AFD116-464D-403C-AFC5-F28B02FD3CF0}"/>
              </a:ext>
            </a:extLst>
          </p:cNvPr>
          <p:cNvGrpSpPr/>
          <p:nvPr/>
        </p:nvGrpSpPr>
        <p:grpSpPr>
          <a:xfrm>
            <a:off x="1676400" y="1900012"/>
            <a:ext cx="8839200" cy="4298950"/>
            <a:chOff x="1676400" y="2183040"/>
            <a:chExt cx="8839200" cy="4298950"/>
          </a:xfrm>
        </p:grpSpPr>
        <p:pic>
          <p:nvPicPr>
            <p:cNvPr id="3" name="Image 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615A9B6D-7636-4031-B88F-A09A6F5E6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6400" y="2183040"/>
              <a:ext cx="8839200" cy="429895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C4683C-7883-4933-BA02-77C2BBDAA7CD}"/>
                </a:ext>
              </a:extLst>
            </p:cNvPr>
            <p:cNvSpPr/>
            <p:nvPr/>
          </p:nvSpPr>
          <p:spPr>
            <a:xfrm>
              <a:off x="3407229" y="5312227"/>
              <a:ext cx="914400" cy="370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0679249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9232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967558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En intégrant le script généré avec le script du pipeline, nous obtiendrons le résultat suivant 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AEF70A-44CC-4A44-AAB4-45F82F78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76475"/>
            <a:ext cx="110490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640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28721" y="925885"/>
            <a:ext cx="11779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entury Gothic" panose="020B0502020202020204" pitchFamily="34" charset="0"/>
              </a:rPr>
              <a:t>L’exécution de ce script passera avec succès.</a:t>
            </a:r>
            <a:endParaRPr lang="fr-FR" sz="2200" b="1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100997"/>
            <a:ext cx="558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du pipeline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F3018A8-3057-4A72-B059-3BEDD05C4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84" y="1798182"/>
            <a:ext cx="10272032" cy="4133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9871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47287"/>
            <a:ext cx="921349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Création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Résultat</a:t>
            </a:r>
            <a:endParaRPr lang="fr-FR" sz="32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00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2" y="79225"/>
            <a:ext cx="7404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Résultat 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: Le serveur Apache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B2FF9C2-D660-4902-875F-14D8CEA6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30" y="864328"/>
            <a:ext cx="9321140" cy="5892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0911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E4E23B02-C3DC-4DE5-9114-28BF33101899}"/>
              </a:ext>
            </a:extLst>
          </p:cNvPr>
          <p:cNvSpPr txBox="1"/>
          <p:nvPr/>
        </p:nvSpPr>
        <p:spPr>
          <a:xfrm>
            <a:off x="128721" y="79225"/>
            <a:ext cx="9145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Résultat </a:t>
            </a:r>
            <a:r>
              <a:rPr lang="fr-FR" sz="3200" dirty="0">
                <a:solidFill>
                  <a:srgbClr val="0070C0"/>
                </a:solidFill>
                <a:latin typeface="Century Gothic" panose="020B0502020202020204" pitchFamily="34" charset="0"/>
              </a:rPr>
              <a:t>: L’application (myweb-0.0.1.war)</a:t>
            </a:r>
            <a:endParaRPr lang="fr-FR" sz="40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7282CD-27C9-4250-BBFC-4FC7EF9A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38" y="911375"/>
            <a:ext cx="10369924" cy="5867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905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4AD3E-550C-4EA1-84DC-ABDD7236B0AC}"/>
              </a:ext>
            </a:extLst>
          </p:cNvPr>
          <p:cNvSpPr txBox="1"/>
          <p:nvPr/>
        </p:nvSpPr>
        <p:spPr>
          <a:xfrm>
            <a:off x="1489252" y="2303743"/>
            <a:ext cx="921349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entury Gothic" panose="020B0502020202020204" pitchFamily="34" charset="0"/>
              </a:rPr>
              <a:t>Partie 2</a:t>
            </a:r>
          </a:p>
          <a:p>
            <a:pPr algn="ctr"/>
            <a:endParaRPr lang="fr-FR" sz="4800" b="1" dirty="0">
              <a:latin typeface="Century Gothic" panose="020B0502020202020204" pitchFamily="34" charset="0"/>
            </a:endParaRPr>
          </a:p>
          <a:p>
            <a:pPr algn="ctr"/>
            <a:r>
              <a:rPr lang="fr-FR" sz="4800" dirty="0">
                <a:latin typeface="Century Gothic" panose="020B0502020202020204" pitchFamily="34" charset="0"/>
              </a:rPr>
              <a:t>Déclanchement automatique du CI / CD pipeline</a:t>
            </a:r>
          </a:p>
          <a:p>
            <a:pPr algn="ctr"/>
            <a:endParaRPr lang="fr-FR" sz="4800" dirty="0">
              <a:latin typeface="Century Gothic" panose="020B0502020202020204" pitchFamily="34" charset="0"/>
            </a:endParaRPr>
          </a:p>
          <a:p>
            <a:pPr algn="ctr"/>
            <a:r>
              <a:rPr lang="fr-FR" sz="3200" b="1" dirty="0">
                <a:solidFill>
                  <a:srgbClr val="0070C0"/>
                </a:solidFill>
                <a:latin typeface="Century Gothic" panose="020B0502020202020204" pitchFamily="34" charset="0"/>
              </a:rPr>
              <a:t>BONUS</a:t>
            </a:r>
            <a:endParaRPr lang="fr-FR" sz="3200" dirty="0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Graphique 3" descr="Fiole contour">
            <a:extLst>
              <a:ext uri="{FF2B5EF4-FFF2-40B4-BE49-F238E27FC236}">
                <a16:creationId xmlns:a16="http://schemas.microsoft.com/office/drawing/2014/main" id="{1D7C095E-CDDD-4C1C-9D41-30894FF1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746" y="28602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402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9232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Modification du pipeline sur Jenkins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858699"/>
            <a:ext cx="115379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Afin de déclencher automatiquement l’exécution du pipeline, il faudra accéder à notre projet docker-app =&gt; Configure =&gt; </a:t>
            </a:r>
            <a:r>
              <a:rPr lang="fr-FR" sz="2000" b="1" dirty="0">
                <a:latin typeface="Century Gothic" panose="020B0502020202020204" pitchFamily="34" charset="0"/>
              </a:rPr>
              <a:t>Build Triggers </a:t>
            </a:r>
            <a:r>
              <a:rPr lang="fr-FR" sz="2000" dirty="0">
                <a:latin typeface="Century Gothic" panose="020B0502020202020204" pitchFamily="34" charset="0"/>
              </a:rPr>
              <a:t>=&gt; puis cocher </a:t>
            </a:r>
            <a:r>
              <a:rPr lang="fr-FR" sz="2000" b="1" dirty="0">
                <a:latin typeface="Century Gothic" panose="020B0502020202020204" pitchFamily="34" charset="0"/>
              </a:rPr>
              <a:t>GitHub </a:t>
            </a:r>
            <a:r>
              <a:rPr lang="fr-FR" sz="2000" b="1" dirty="0" err="1">
                <a:latin typeface="Century Gothic" panose="020B0502020202020204" pitchFamily="34" charset="0"/>
              </a:rPr>
              <a:t>hook</a:t>
            </a:r>
            <a:r>
              <a:rPr lang="fr-FR" sz="2000" b="1" dirty="0">
                <a:latin typeface="Century Gothic" panose="020B0502020202020204" pitchFamily="34" charset="0"/>
              </a:rPr>
              <a:t> trigger.</a:t>
            </a:r>
            <a:r>
              <a:rPr lang="fr-FR" sz="2000" dirty="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F6062C7D-C158-4665-9D6B-304AD55A2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43" y="1671933"/>
            <a:ext cx="8599714" cy="49393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36804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1054642"/>
            <a:ext cx="115379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D’autre part, il faudra accéder au compte GitHub pour configurer le </a:t>
            </a:r>
            <a:r>
              <a:rPr lang="fr-FR" sz="2000" b="1" dirty="0" err="1">
                <a:latin typeface="Century Gothic" panose="020B0502020202020204" pitchFamily="34" charset="0"/>
              </a:rPr>
              <a:t>Webhook</a:t>
            </a:r>
            <a:r>
              <a:rPr lang="fr-FR" sz="2000" dirty="0">
                <a:latin typeface="Century Gothic" panose="020B0502020202020204" pitchFamily="34" charset="0"/>
              </a:rPr>
              <a:t> qui déclenchera notre pipeline.   ( </a:t>
            </a:r>
            <a:r>
              <a:rPr lang="fr-FR" sz="2000" b="1" dirty="0">
                <a:latin typeface="Century Gothic" panose="020B0502020202020204" pitchFamily="34" charset="0"/>
              </a:rPr>
              <a:t>Settings =&gt; </a:t>
            </a:r>
            <a:r>
              <a:rPr lang="fr-FR" sz="2000" b="1" dirty="0" err="1">
                <a:latin typeface="Century Gothic" panose="020B0502020202020204" pitchFamily="34" charset="0"/>
              </a:rPr>
              <a:t>Webhooks</a:t>
            </a:r>
            <a:r>
              <a:rPr lang="fr-FR" sz="2000" b="1" dirty="0">
                <a:latin typeface="Century Gothic" panose="020B0502020202020204" pitchFamily="34" charset="0"/>
              </a:rPr>
              <a:t> =&gt; </a:t>
            </a:r>
            <a:r>
              <a:rPr lang="fr-FR" sz="2000" b="1" dirty="0" err="1">
                <a:latin typeface="Century Gothic" panose="020B0502020202020204" pitchFamily="34" charset="0"/>
              </a:rPr>
              <a:t>Add</a:t>
            </a:r>
            <a:r>
              <a:rPr lang="fr-FR" sz="2000" b="1" dirty="0">
                <a:latin typeface="Century Gothic" panose="020B0502020202020204" pitchFamily="34" charset="0"/>
              </a:rPr>
              <a:t> </a:t>
            </a:r>
            <a:r>
              <a:rPr lang="fr-FR" sz="2000" b="1" dirty="0" err="1">
                <a:latin typeface="Century Gothic" panose="020B0502020202020204" pitchFamily="34" charset="0"/>
              </a:rPr>
              <a:t>webhook</a:t>
            </a:r>
            <a:r>
              <a:rPr lang="fr-FR" sz="2000" dirty="0">
                <a:latin typeface="Century Gothic" panose="020B0502020202020204" pitchFamily="34" charset="0"/>
              </a:rPr>
              <a:t> )</a:t>
            </a: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EEAD026-AFCB-4DC8-BE74-6349D7F57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38" y="2383971"/>
            <a:ext cx="8148607" cy="42599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564BF31-33C6-44EE-A8DE-DDCC4AEF75B1}"/>
              </a:ext>
            </a:extLst>
          </p:cNvPr>
          <p:cNvSpPr/>
          <p:nvPr/>
        </p:nvSpPr>
        <p:spPr>
          <a:xfrm>
            <a:off x="2370719" y="4062182"/>
            <a:ext cx="982082" cy="2068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8D82058-AA36-49C3-955A-105D0BE623E9}"/>
              </a:ext>
            </a:extLst>
          </p:cNvPr>
          <p:cNvSpPr/>
          <p:nvPr/>
        </p:nvSpPr>
        <p:spPr>
          <a:xfrm>
            <a:off x="2370720" y="3565071"/>
            <a:ext cx="2135966" cy="206830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47B95C3-7DA5-4DB2-80B1-2DA8E665B74F}"/>
              </a:ext>
            </a:extLst>
          </p:cNvPr>
          <p:cNvSpPr txBox="1"/>
          <p:nvPr/>
        </p:nvSpPr>
        <p:spPr>
          <a:xfrm>
            <a:off x="8479971" y="2678584"/>
            <a:ext cx="35260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800" dirty="0">
                <a:latin typeface="Century Gothic" panose="020B0502020202020204" pitchFamily="34" charset="0"/>
              </a:rPr>
              <a:t>Mettre dans le champ </a:t>
            </a:r>
            <a:r>
              <a:rPr lang="fr-FR" sz="1800" b="1" dirty="0" err="1">
                <a:latin typeface="Century Gothic" panose="020B0502020202020204" pitchFamily="34" charset="0"/>
              </a:rPr>
              <a:t>payload</a:t>
            </a:r>
            <a:r>
              <a:rPr lang="fr-FR" sz="1800" b="1" dirty="0">
                <a:latin typeface="Century Gothic" panose="020B0502020202020204" pitchFamily="34" charset="0"/>
              </a:rPr>
              <a:t> URL</a:t>
            </a:r>
            <a:r>
              <a:rPr lang="fr-FR" sz="1800" dirty="0">
                <a:latin typeface="Century Gothic" panose="020B0502020202020204" pitchFamily="34" charset="0"/>
              </a:rPr>
              <a:t> l’adresse IP et le numéro de port pour accéder au serveur Jenkins (</a:t>
            </a:r>
            <a:r>
              <a:rPr lang="fr-FR" sz="1800" b="1" dirty="0">
                <a:latin typeface="Century Gothic" panose="020B0502020202020204" pitchFamily="34" charset="0"/>
              </a:rPr>
              <a:t>192.168.56.102:8080</a:t>
            </a:r>
            <a:r>
              <a:rPr lang="fr-FR" sz="1800" dirty="0">
                <a:latin typeface="Century Gothic" panose="020B0502020202020204" pitchFamily="34" charset="0"/>
              </a:rPr>
              <a:t>). En plus du </a:t>
            </a:r>
            <a:r>
              <a:rPr lang="fr-FR" sz="1800" dirty="0" err="1">
                <a:latin typeface="Century Gothic" panose="020B0502020202020204" pitchFamily="34" charset="0"/>
              </a:rPr>
              <a:t>payload</a:t>
            </a:r>
            <a:r>
              <a:rPr lang="fr-FR" sz="1800" dirty="0">
                <a:latin typeface="Century Gothic" panose="020B0502020202020204" pitchFamily="34" charset="0"/>
              </a:rPr>
              <a:t> : </a:t>
            </a:r>
            <a:r>
              <a:rPr lang="fr-FR" sz="1800" b="1" dirty="0" err="1">
                <a:latin typeface="Century Gothic" panose="020B0502020202020204" pitchFamily="34" charset="0"/>
              </a:rPr>
              <a:t>github-webhook</a:t>
            </a:r>
            <a:r>
              <a:rPr lang="fr-FR" sz="1800" b="1" dirty="0">
                <a:latin typeface="Century Gothic" panose="020B0502020202020204" pitchFamily="34" charset="0"/>
              </a:rPr>
              <a:t>/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b="1" dirty="0">
              <a:latin typeface="Century Gothic" panose="020B0502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b="1" dirty="0">
              <a:latin typeface="Century Gothic" panose="020B0502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fr-FR" sz="1800" dirty="0">
                <a:latin typeface="Century Gothic" panose="020B0502020202020204" pitchFamily="34" charset="0"/>
              </a:rPr>
              <a:t>Choisir </a:t>
            </a:r>
            <a:r>
              <a:rPr lang="fr-FR" sz="1800" b="1" dirty="0">
                <a:latin typeface="Century Gothic" panose="020B0502020202020204" pitchFamily="34" charset="0"/>
              </a:rPr>
              <a:t>application/</a:t>
            </a:r>
            <a:r>
              <a:rPr lang="fr-FR" sz="1800" b="1" dirty="0" err="1">
                <a:latin typeface="Century Gothic" panose="020B0502020202020204" pitchFamily="34" charset="0"/>
              </a:rPr>
              <a:t>json</a:t>
            </a:r>
            <a:r>
              <a:rPr lang="fr-FR" sz="1800" b="1" dirty="0">
                <a:latin typeface="Century Gothic" panose="020B0502020202020204" pitchFamily="34" charset="0"/>
              </a:rPr>
              <a:t> </a:t>
            </a:r>
            <a:r>
              <a:rPr lang="fr-FR" sz="1800" dirty="0">
                <a:latin typeface="Century Gothic" panose="020B0502020202020204" pitchFamily="34" charset="0"/>
              </a:rPr>
              <a:t>comme format des données à envoyer via la requête HTTP POST.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973419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5938" y="858699"/>
            <a:ext cx="115379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Century Gothic" panose="020B0502020202020204" pitchFamily="34" charset="0"/>
              </a:rPr>
              <a:t>Comme vous l’avez remarqué, cette URL n’a pas permit de se connecter au serveur Jenkins.</a:t>
            </a:r>
          </a:p>
          <a:p>
            <a:pPr algn="just"/>
            <a:endParaRPr lang="fr-FR" dirty="0">
              <a:latin typeface="Century Gothic" panose="020B0502020202020204" pitchFamily="34" charset="0"/>
            </a:endParaRPr>
          </a:p>
          <a:p>
            <a:pPr algn="just"/>
            <a:r>
              <a:rPr lang="fr-FR" b="1" dirty="0">
                <a:latin typeface="Century Gothic" panose="020B0502020202020204" pitchFamily="34" charset="0"/>
              </a:rPr>
              <a:t>Cause :</a:t>
            </a:r>
            <a:r>
              <a:rPr lang="fr-FR" dirty="0">
                <a:latin typeface="Century Gothic" panose="020B0502020202020204" pitchFamily="34" charset="0"/>
              </a:rPr>
              <a:t> L’adresse IP utilisée n’est pas publique (elle permet un accès local au serveur Jenkins)</a:t>
            </a:r>
          </a:p>
          <a:p>
            <a:pPr algn="just"/>
            <a:endParaRPr lang="fr-FR" b="1" dirty="0">
              <a:latin typeface="Century Gothic" panose="020B0502020202020204" pitchFamily="34" charset="0"/>
            </a:endParaRPr>
          </a:p>
          <a:p>
            <a:pPr algn="just"/>
            <a:r>
              <a:rPr lang="fr-FR" b="1" dirty="0">
                <a:latin typeface="Century Gothic" panose="020B0502020202020204" pitchFamily="34" charset="0"/>
              </a:rPr>
              <a:t>Solution (pour notre cas) : </a:t>
            </a:r>
            <a:r>
              <a:rPr lang="fr-FR" dirty="0">
                <a:latin typeface="Century Gothic" panose="020B0502020202020204" pitchFamily="34" charset="0"/>
              </a:rPr>
              <a:t>utiliser un outil tel que </a:t>
            </a:r>
            <a:r>
              <a:rPr lang="fr-FR" dirty="0" err="1">
                <a:latin typeface="Century Gothic" panose="020B0502020202020204" pitchFamily="34" charset="0"/>
                <a:hlinkClick r:id="rId2" action="ppaction://hlinkfile"/>
              </a:rPr>
              <a:t>ngrok</a:t>
            </a:r>
            <a:r>
              <a:rPr lang="fr-FR" dirty="0">
                <a:latin typeface="Century Gothic" panose="020B0502020202020204" pitchFamily="34" charset="0"/>
              </a:rPr>
              <a:t> qui permet d’obtenir une adresse publique à partir de celle locale.  (</a:t>
            </a:r>
            <a:r>
              <a:rPr lang="fr-FR" dirty="0" err="1">
                <a:latin typeface="Century Gothic" panose="020B0502020202020204" pitchFamily="34" charset="0"/>
              </a:rPr>
              <a:t>ngrok</a:t>
            </a:r>
            <a:r>
              <a:rPr lang="fr-FR" dirty="0">
                <a:latin typeface="Century Gothic" panose="020B0502020202020204" pitchFamily="34" charset="0"/>
              </a:rPr>
              <a:t> </a:t>
            </a:r>
            <a:r>
              <a:rPr lang="fr-FR" dirty="0" err="1">
                <a:latin typeface="Century Gothic" panose="020B0502020202020204" pitchFamily="34" charset="0"/>
              </a:rPr>
              <a:t>provides</a:t>
            </a:r>
            <a:r>
              <a:rPr lang="fr-FR" dirty="0"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</a:rPr>
              <a:t>secure introspectable tunnels to localhost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</p:txBody>
      </p:sp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6FEA074E-A6F2-4497-9E13-F474E1694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38" y="2838431"/>
            <a:ext cx="11703050" cy="3441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B6EC35B-3DA8-4086-94DF-B81DC8E1EF7C}"/>
              </a:ext>
            </a:extLst>
          </p:cNvPr>
          <p:cNvSpPr/>
          <p:nvPr/>
        </p:nvSpPr>
        <p:spPr>
          <a:xfrm>
            <a:off x="3498725" y="4977300"/>
            <a:ext cx="2499303" cy="25872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455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F46A5C-0F38-44E2-B9A1-73C2868BD545}"/>
              </a:ext>
            </a:extLst>
          </p:cNvPr>
          <p:cNvSpPr txBox="1"/>
          <p:nvPr/>
        </p:nvSpPr>
        <p:spPr>
          <a:xfrm>
            <a:off x="182205" y="928644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Les commandes pour installer </a:t>
            </a:r>
            <a:r>
              <a:rPr lang="fr-FR" sz="2000" b="1" dirty="0" err="1">
                <a:latin typeface="Century Gothic" panose="020B0502020202020204" pitchFamily="34" charset="0"/>
              </a:rPr>
              <a:t>ngrok</a:t>
            </a:r>
            <a:r>
              <a:rPr lang="fr-FR" sz="2000" dirty="0">
                <a:latin typeface="Century Gothic" panose="020B0502020202020204" pitchFamily="34" charset="0"/>
              </a:rPr>
              <a:t> sous Ubuntu.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F07F6B72-4D9F-4EE2-8F9C-59F17E8AE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75" y="2200730"/>
            <a:ext cx="9291036" cy="3459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65379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43AFD5-5049-4367-A827-E45B9C78BAC0}"/>
              </a:ext>
            </a:extLst>
          </p:cNvPr>
          <p:cNvSpPr txBox="1"/>
          <p:nvPr/>
        </p:nvSpPr>
        <p:spPr>
          <a:xfrm>
            <a:off x="327012" y="1278590"/>
            <a:ext cx="1153797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Une fois installé, taper la commande :</a:t>
            </a: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r>
              <a:rPr lang="fr-FR" sz="2000" dirty="0">
                <a:latin typeface="Century Gothic" panose="020B0502020202020204" pitchFamily="34" charset="0"/>
              </a:rPr>
              <a:t>Le résultat de la commande est comme suit :</a:t>
            </a: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endParaRPr lang="fr-FR" sz="2000" dirty="0">
              <a:latin typeface="Century Gothic" panose="020B0502020202020204" pitchFamily="34" charset="0"/>
            </a:endParaRPr>
          </a:p>
          <a:p>
            <a:pPr algn="just"/>
            <a:r>
              <a:rPr lang="fr-FR" sz="2000" dirty="0">
                <a:latin typeface="Century Gothic" panose="020B0502020202020204" pitchFamily="34" charset="0"/>
              </a:rPr>
              <a:t>Récupérer l’adresse </a:t>
            </a:r>
            <a:r>
              <a:rPr lang="fr-FR" sz="2000" dirty="0" err="1">
                <a:latin typeface="Century Gothic" panose="020B0502020202020204" pitchFamily="34" charset="0"/>
              </a:rPr>
              <a:t>ngrok</a:t>
            </a:r>
            <a:r>
              <a:rPr lang="fr-FR" sz="2000" dirty="0">
                <a:latin typeface="Century Gothic" panose="020B0502020202020204" pitchFamily="34" charset="0"/>
              </a:rPr>
              <a:t> correspondante au localhost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99E629-ABA9-4E5D-B3BD-4B9861030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606" y="1278590"/>
            <a:ext cx="5711915" cy="40011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2740725-F1C0-4167-98AA-C5FCB2BD7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421" y="2725395"/>
            <a:ext cx="6842580" cy="306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977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43AFD5-5049-4367-A827-E45B9C78BAC0}"/>
              </a:ext>
            </a:extLst>
          </p:cNvPr>
          <p:cNvSpPr txBox="1"/>
          <p:nvPr/>
        </p:nvSpPr>
        <p:spPr>
          <a:xfrm>
            <a:off x="327012" y="875818"/>
            <a:ext cx="115379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Utiliser l’adresse </a:t>
            </a:r>
            <a:r>
              <a:rPr lang="fr-FR" sz="2000" dirty="0" err="1">
                <a:latin typeface="Century Gothic" panose="020B0502020202020204" pitchFamily="34" charset="0"/>
              </a:rPr>
              <a:t>ngrok</a:t>
            </a:r>
            <a:r>
              <a:rPr lang="fr-FR" sz="2000" dirty="0">
                <a:latin typeface="Century Gothic" panose="020B0502020202020204" pitchFamily="34" charset="0"/>
              </a:rPr>
              <a:t> pour créer le </a:t>
            </a:r>
            <a:r>
              <a:rPr lang="fr-FR" sz="2000" dirty="0" err="1">
                <a:latin typeface="Century Gothic" panose="020B0502020202020204" pitchFamily="34" charset="0"/>
              </a:rPr>
              <a:t>webhook</a:t>
            </a:r>
            <a:r>
              <a:rPr lang="fr-FR" sz="2000" dirty="0">
                <a:latin typeface="Century Gothic" panose="020B0502020202020204" pitchFamily="34" charset="0"/>
              </a:rPr>
              <a:t>.</a:t>
            </a:r>
          </a:p>
          <a:p>
            <a:pPr algn="just"/>
            <a:r>
              <a:rPr lang="fr-FR" sz="2000" dirty="0">
                <a:latin typeface="Century Gothic" panose="020B0502020202020204" pitchFamily="34" charset="0"/>
              </a:rPr>
              <a:t>Le </a:t>
            </a:r>
            <a:r>
              <a:rPr lang="fr-FR" sz="2000" dirty="0" err="1">
                <a:latin typeface="Century Gothic" panose="020B0502020202020204" pitchFamily="34" charset="0"/>
              </a:rPr>
              <a:t>webhook</a:t>
            </a:r>
            <a:r>
              <a:rPr lang="fr-FR" sz="2000" dirty="0">
                <a:latin typeface="Century Gothic" panose="020B0502020202020204" pitchFamily="34" charset="0"/>
              </a:rPr>
              <a:t> cette fois ci a bien fonctionné. </a:t>
            </a:r>
          </a:p>
        </p:txBody>
      </p:sp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2175FB4-6485-40B1-BC58-8BED5CA16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1" y="1769166"/>
            <a:ext cx="8666936" cy="4517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3DE43CE7-6806-4807-B21F-A0498B8402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12" y="3572025"/>
            <a:ext cx="11734800" cy="3130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E5BC8B-598E-4DF9-AD6E-078EFBE50A90}"/>
              </a:ext>
            </a:extLst>
          </p:cNvPr>
          <p:cNvSpPr/>
          <p:nvPr/>
        </p:nvSpPr>
        <p:spPr>
          <a:xfrm>
            <a:off x="3596697" y="5728415"/>
            <a:ext cx="2499303" cy="226071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5E74B02-FE7C-48B3-A4BE-212E25B3136A}"/>
              </a:ext>
            </a:extLst>
          </p:cNvPr>
          <p:cNvSpPr/>
          <p:nvPr/>
        </p:nvSpPr>
        <p:spPr>
          <a:xfrm>
            <a:off x="2475468" y="2969915"/>
            <a:ext cx="2499303" cy="25872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69766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79225"/>
            <a:ext cx="3768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Configuration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43AFD5-5049-4367-A827-E45B9C78BAC0}"/>
              </a:ext>
            </a:extLst>
          </p:cNvPr>
          <p:cNvSpPr txBox="1"/>
          <p:nvPr/>
        </p:nvSpPr>
        <p:spPr>
          <a:xfrm>
            <a:off x="327012" y="782752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Faire un changement au niveau du code source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797E4601-A688-4F3C-A025-02D92AE70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9" y="1389691"/>
            <a:ext cx="9506740" cy="40191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91BFAC6-04CC-458C-BF90-3FF4CF74D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9" y="4643739"/>
            <a:ext cx="7081189" cy="1931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0546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83E4AE-E1BE-4713-9BB1-B9A2F68B54A4}"/>
              </a:ext>
            </a:extLst>
          </p:cNvPr>
          <p:cNvSpPr txBox="1"/>
          <p:nvPr/>
        </p:nvSpPr>
        <p:spPr>
          <a:xfrm>
            <a:off x="128721" y="-7860"/>
            <a:ext cx="9690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70C0"/>
                </a:solidFill>
                <a:latin typeface="Century Gothic" panose="020B0502020202020204" pitchFamily="34" charset="0"/>
              </a:rPr>
              <a:t>Exécution automatique du pipeline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43AFD5-5049-4367-A827-E45B9C78BAC0}"/>
              </a:ext>
            </a:extLst>
          </p:cNvPr>
          <p:cNvSpPr txBox="1"/>
          <p:nvPr/>
        </p:nvSpPr>
        <p:spPr>
          <a:xfrm>
            <a:off x="327012" y="782752"/>
            <a:ext cx="1153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Century Gothic" panose="020B0502020202020204" pitchFamily="34" charset="0"/>
              </a:rPr>
              <a:t>Juste après le commit des changements, le pipeline va se déclencher automatiquement.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352909-3160-4B72-8731-AA2AB6039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1634494"/>
            <a:ext cx="10739571" cy="45986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5076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2372</Words>
  <Application>Microsoft Office PowerPoint</Application>
  <PresentationFormat>Widescreen</PresentationFormat>
  <Paragraphs>374</Paragraphs>
  <Slides>71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Driss Allaki</dc:creator>
  <cp:lastModifiedBy>Driss Allaki</cp:lastModifiedBy>
  <cp:revision>271</cp:revision>
  <dcterms:created xsi:type="dcterms:W3CDTF">2020-12-28T13:10:36Z</dcterms:created>
  <dcterms:modified xsi:type="dcterms:W3CDTF">2025-03-06T12:38:52Z</dcterms:modified>
</cp:coreProperties>
</file>